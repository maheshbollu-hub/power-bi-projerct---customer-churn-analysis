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95" r:id="rId1"/>
  </p:sldMasterIdLst>
  <p:notesMasterIdLst>
    <p:notesMasterId r:id="rId19"/>
  </p:notesMasterIdLst>
  <p:sldIdLst>
    <p:sldId id="256" r:id="rId2"/>
    <p:sldId id="274" r:id="rId3"/>
    <p:sldId id="285" r:id="rId4"/>
    <p:sldId id="284" r:id="rId5"/>
    <p:sldId id="283" r:id="rId6"/>
    <p:sldId id="261" r:id="rId7"/>
    <p:sldId id="264" r:id="rId8"/>
    <p:sldId id="262" r:id="rId9"/>
    <p:sldId id="267" r:id="rId10"/>
    <p:sldId id="280" r:id="rId11"/>
    <p:sldId id="281" r:id="rId12"/>
    <p:sldId id="278" r:id="rId13"/>
    <p:sldId id="268" r:id="rId14"/>
    <p:sldId id="266" r:id="rId15"/>
    <p:sldId id="270" r:id="rId16"/>
    <p:sldId id="275" r:id="rId17"/>
    <p:sldId id="259" r:id="rId18"/>
  </p:sldIdLst>
  <p:sldSz cx="12192000" cy="6858000"/>
  <p:notesSz cx="6858000" cy="9144000"/>
  <p:embeddedFontLst>
    <p:embeddedFont>
      <p:font typeface="Algerian" panose="04020705040A02060702" pitchFamily="82" charset="0"/>
      <p:regular r:id="rId20"/>
    </p:embeddedFont>
    <p:embeddedFont>
      <p:font typeface="Calisto MT" panose="02040603050505030304" pitchFamily="18" charset="0"/>
      <p:regular r:id="rId21"/>
      <p:bold r:id="rId22"/>
      <p:italic r:id="rId23"/>
      <p:boldItalic r:id="rId24"/>
    </p:embeddedFont>
    <p:embeddedFont>
      <p:font typeface="Gill Sans MT" panose="020B0502020104020203" pitchFamily="34" charset="0"/>
      <p:regular r:id="rId25"/>
      <p:bold r:id="rId26"/>
      <p:italic r:id="rId27"/>
      <p:boldItalic r:id="rId28"/>
    </p:embeddedFont>
    <p:embeddedFont>
      <p:font typeface="Libre Baskerville" panose="02000000000000000000" pitchFamily="2" charset="0"/>
      <p:regular r:id="rId29"/>
      <p:bold r:id="rId30"/>
      <p:italic r:id="rId31"/>
    </p:embeddedFont>
    <p:embeddedFont>
      <p:font typeface="Mongolian Baiti" panose="03000500000000000000" pitchFamily="66" charset="0"/>
      <p:regular r:id="rId3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5F11372-7CC3-4264-8E68-433A03CA5000}">
          <p14:sldIdLst>
            <p14:sldId id="256"/>
            <p14:sldId id="274"/>
            <p14:sldId id="285"/>
            <p14:sldId id="284"/>
            <p14:sldId id="283"/>
            <p14:sldId id="261"/>
            <p14:sldId id="264"/>
            <p14:sldId id="262"/>
            <p14:sldId id="267"/>
            <p14:sldId id="280"/>
            <p14:sldId id="281"/>
            <p14:sldId id="278"/>
            <p14:sldId id="268"/>
            <p14:sldId id="266"/>
            <p14:sldId id="270"/>
            <p14:sldId id="275"/>
            <p14:sldId id="259"/>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1525" autoAdjust="0"/>
  </p:normalViewPr>
  <p:slideViewPr>
    <p:cSldViewPr snapToGrid="0">
      <p:cViewPr varScale="1">
        <p:scale>
          <a:sx n="96" d="100"/>
          <a:sy n="96" d="100"/>
        </p:scale>
        <p:origin x="878" y="67"/>
      </p:cViewPr>
      <p:guideLst/>
    </p:cSldViewPr>
  </p:slideViewPr>
  <p:notesTextViewPr>
    <p:cViewPr>
      <p:scale>
        <a:sx n="1" d="1"/>
        <a:sy n="1" d="1"/>
      </p:scale>
      <p:origin x="0" y="0"/>
    </p:cViewPr>
  </p:notesTextViewPr>
  <p:sorterViewPr>
    <p:cViewPr>
      <p:scale>
        <a:sx n="165" d="100"/>
        <a:sy n="165" d="100"/>
      </p:scale>
      <p:origin x="0" y="-649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D2819BA-7A7B-E475-5956-DA82A605CCA9}"/>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A02C41AD-02ED-84A0-8A09-ED49BD89EFE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A6767DD8-10E3-4324-2A83-B46A808FC99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071248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949A703-198A-CC4A-D4B9-63027742250F}"/>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9665548-0877-D52E-0F5C-A12A8122262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A3571AA6-E958-2B99-4699-423947A3DE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445969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7</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10184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950668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
        <p:nvSpPr>
          <p:cNvPr id="8" name="Content Placeholder 7">
            <a:extLst>
              <a:ext uri="{FF2B5EF4-FFF2-40B4-BE49-F238E27FC236}">
                <a16:creationId xmlns:a16="http://schemas.microsoft.com/office/drawing/2014/main" id="{4FC3EBB1-4E4D-9A2F-BA0E-41836F8D0FCD}"/>
              </a:ext>
            </a:extLst>
          </p:cNvPr>
          <p:cNvSpPr>
            <a:spLocks noGrp="1"/>
          </p:cNvSpPr>
          <p:nvPr>
            <p:ph sz="quarter" idx="13"/>
          </p:nvPr>
        </p:nvSpPr>
        <p:spPr>
          <a:xfrm>
            <a:off x="3556000" y="1854200"/>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597881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30241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9891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4939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56116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468831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52484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1922237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7048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93115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pPr marL="0" lvl="0" indent="0" algn="r" rtl="0">
              <a:spcBef>
                <a:spcPts val="0"/>
              </a:spcBef>
              <a:spcAft>
                <a:spcPts val="0"/>
              </a:spcAft>
              <a:buNone/>
            </a:pPr>
            <a:fld id="{00000000-1234-1234-1234-123412341234}"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360582"/>
      </p:ext>
    </p:extLst>
  </p:cSld>
  <p:clrMap bg1="lt1" tx1="dk1" bg2="lt2" tx2="dk2" accent1="accent1" accent2="accent2" accent3="accent3" accent4="accent4" accent5="accent5" accent6="accent6" hlink="hlink" folHlink="folHlink"/>
  <p:sldLayoutIdLst>
    <p:sldLayoutId id="2147483896"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 id="2147483905" r:id="rId10"/>
    <p:sldLayoutId id="2147483906" r:id="rId11"/>
  </p:sldLayoutIdLst>
  <p:hf sldNum="0"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0"/>
            <a:ext cx="12193185" cy="6858000"/>
          </a:xfrm>
          <a:prstGeom prst="rect">
            <a:avLst/>
          </a:prstGeom>
          <a:noFill/>
          <a:ln>
            <a:noFill/>
          </a:ln>
        </p:spPr>
      </p:pic>
      <p:sp>
        <p:nvSpPr>
          <p:cNvPr id="2" name="TextBox 1">
            <a:extLst>
              <a:ext uri="{FF2B5EF4-FFF2-40B4-BE49-F238E27FC236}">
                <a16:creationId xmlns:a16="http://schemas.microsoft.com/office/drawing/2014/main" id="{CB6C263F-A27D-0003-0E04-CDE0854BAC6A}"/>
              </a:ext>
            </a:extLst>
          </p:cNvPr>
          <p:cNvSpPr txBox="1"/>
          <p:nvPr/>
        </p:nvSpPr>
        <p:spPr>
          <a:xfrm>
            <a:off x="7305368" y="4945626"/>
            <a:ext cx="4886632" cy="1523494"/>
          </a:xfrm>
          <a:prstGeom prst="rect">
            <a:avLst/>
          </a:prstGeom>
          <a:noFill/>
        </p:spPr>
        <p:txBody>
          <a:bodyPr wrap="square" rtlCol="0">
            <a:spAutoFit/>
          </a:bodyPr>
          <a:lstStyle/>
          <a:p>
            <a:r>
              <a:rPr lang="en-US" sz="1900" b="1" dirty="0">
                <a:solidFill>
                  <a:srgbClr val="FF0000"/>
                </a:solidFill>
                <a:latin typeface="Times New Roman" panose="02020603050405020304" pitchFamily="18" charset="0"/>
                <a:cs typeface="Times New Roman" panose="02020603050405020304" pitchFamily="18" charset="0"/>
              </a:rPr>
              <a:t>Presented By :</a:t>
            </a:r>
            <a:r>
              <a:rPr lang="en-US" sz="1900" dirty="0">
                <a:latin typeface="Times New Roman" panose="02020603050405020304" pitchFamily="18" charset="0"/>
                <a:cs typeface="Times New Roman" panose="02020603050405020304" pitchFamily="18" charset="0"/>
              </a:rPr>
              <a:t> </a:t>
            </a:r>
          </a:p>
          <a:p>
            <a:r>
              <a:rPr lang="en-US" sz="1900" dirty="0">
                <a:latin typeface="Times New Roman" panose="02020603050405020304" pitchFamily="18" charset="0"/>
                <a:cs typeface="Times New Roman" panose="02020603050405020304" pitchFamily="18" charset="0"/>
              </a:rPr>
              <a:t>Boddu Chaitanya &amp; </a:t>
            </a:r>
            <a:r>
              <a:rPr lang="en-US" sz="1900" dirty="0">
                <a:solidFill>
                  <a:schemeClr val="tx1">
                    <a:lumMod val="95000"/>
                    <a:lumOff val="5000"/>
                  </a:schemeClr>
                </a:solidFill>
                <a:latin typeface="Times New Roman" panose="02020603050405020304" pitchFamily="18" charset="0"/>
                <a:cs typeface="Times New Roman" panose="02020603050405020304" pitchFamily="18" charset="0"/>
              </a:rPr>
              <a:t>Mahesh </a:t>
            </a:r>
            <a:r>
              <a:rPr lang="en-US" sz="1900" dirty="0" err="1">
                <a:solidFill>
                  <a:schemeClr val="tx1">
                    <a:lumMod val="95000"/>
                    <a:lumOff val="5000"/>
                  </a:schemeClr>
                </a:solidFill>
                <a:latin typeface="Times New Roman" panose="02020603050405020304" pitchFamily="18" charset="0"/>
                <a:cs typeface="Times New Roman" panose="02020603050405020304" pitchFamily="18" charset="0"/>
              </a:rPr>
              <a:t>Bollu</a:t>
            </a:r>
            <a:endParaRPr lang="en-US" sz="1900" dirty="0">
              <a:solidFill>
                <a:schemeClr val="tx1">
                  <a:lumMod val="95000"/>
                  <a:lumOff val="5000"/>
                </a:schemeClr>
              </a:solidFill>
              <a:latin typeface="Times New Roman" panose="02020603050405020304" pitchFamily="18" charset="0"/>
              <a:cs typeface="Times New Roman" panose="02020603050405020304" pitchFamily="18" charset="0"/>
            </a:endParaRPr>
          </a:p>
          <a:p>
            <a:r>
              <a:rPr lang="en-IN" sz="1800" dirty="0">
                <a:latin typeface="Calibri" panose="020F0502020204030204" pitchFamily="34" charset="0"/>
                <a:ea typeface="Calibri" panose="020F0502020204030204" pitchFamily="34" charset="0"/>
                <a:cs typeface="Calibri" panose="020F0502020204030204" pitchFamily="34" charset="0"/>
              </a:rPr>
              <a:t>Batch No : 435</a:t>
            </a:r>
          </a:p>
          <a:p>
            <a:r>
              <a:rPr lang="en-US" sz="1800" dirty="0" err="1">
                <a:latin typeface="Calibri" panose="020F0502020204030204" pitchFamily="34" charset="0"/>
                <a:ea typeface="Calibri" panose="020F0502020204030204" pitchFamily="34" charset="0"/>
                <a:cs typeface="Calibri" panose="020F0502020204030204" pitchFamily="34" charset="0"/>
              </a:rPr>
              <a:t>Innomatics</a:t>
            </a:r>
            <a:r>
              <a:rPr lang="en-US" sz="1800" dirty="0">
                <a:latin typeface="Calibri" panose="020F0502020204030204" pitchFamily="34" charset="0"/>
                <a:ea typeface="Calibri" panose="020F0502020204030204" pitchFamily="34" charset="0"/>
                <a:cs typeface="Calibri" panose="020F0502020204030204" pitchFamily="34" charset="0"/>
              </a:rPr>
              <a:t> Research Labs – </a:t>
            </a:r>
            <a:r>
              <a:rPr lang="en-US" sz="1800" dirty="0" err="1">
                <a:latin typeface="Calibri" panose="020F0502020204030204" pitchFamily="34" charset="0"/>
                <a:ea typeface="Calibri" panose="020F0502020204030204" pitchFamily="34" charset="0"/>
                <a:cs typeface="Calibri" panose="020F0502020204030204" pitchFamily="34" charset="0"/>
              </a:rPr>
              <a:t>Dilsukhnagar</a:t>
            </a:r>
            <a:r>
              <a:rPr lang="en-US" sz="1800" dirty="0">
                <a:latin typeface="Calibri" panose="020F0502020204030204" pitchFamily="34" charset="0"/>
                <a:ea typeface="Calibri" panose="020F0502020204030204" pitchFamily="34" charset="0"/>
                <a:cs typeface="Calibri" panose="020F0502020204030204" pitchFamily="34" charset="0"/>
              </a:rPr>
              <a:t> </a:t>
            </a:r>
          </a:p>
          <a:p>
            <a:endParaRPr lang="en-US" sz="19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C760B08-623E-CEAB-9C12-E44FB91614D1}"/>
              </a:ext>
            </a:extLst>
          </p:cNvPr>
          <p:cNvSpPr txBox="1"/>
          <p:nvPr/>
        </p:nvSpPr>
        <p:spPr>
          <a:xfrm>
            <a:off x="1" y="3264310"/>
            <a:ext cx="12191999" cy="1190496"/>
          </a:xfrm>
          <a:prstGeom prst="rect">
            <a:avLst/>
          </a:prstGeom>
          <a:noFill/>
        </p:spPr>
        <p:txBody>
          <a:bodyPr wrap="square" rtlCol="0">
            <a:spAutoFit/>
          </a:bodyPr>
          <a:lstStyle/>
          <a:p>
            <a:pPr algn="ctr"/>
            <a:endParaRPr lang="en-US" sz="3600" b="1" dirty="0">
              <a:latin typeface="Times New Roman" panose="02020603050405020304" pitchFamily="18" charset="0"/>
              <a:cs typeface="Times New Roman" panose="02020603050405020304" pitchFamily="18" charset="0"/>
            </a:endParaRPr>
          </a:p>
          <a:p>
            <a:pPr algn="ctr"/>
            <a:r>
              <a:rPr lang="en-US" sz="3600" b="1" dirty="0">
                <a:latin typeface="Times New Roman" panose="02020603050405020304" pitchFamily="18" charset="0"/>
                <a:cs typeface="Times New Roman" panose="02020603050405020304" pitchFamily="18" charset="0"/>
              </a:rPr>
              <a:t>Customer Churn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38D57-7857-14A8-DA26-573D05600972}"/>
              </a:ext>
            </a:extLst>
          </p:cNvPr>
          <p:cNvSpPr>
            <a:spLocks noGrp="1"/>
          </p:cNvSpPr>
          <p:nvPr>
            <p:ph type="title"/>
          </p:nvPr>
        </p:nvSpPr>
        <p:spPr>
          <a:xfrm>
            <a:off x="324464" y="91440"/>
            <a:ext cx="11867535" cy="650240"/>
          </a:xfrm>
        </p:spPr>
        <p:txBody>
          <a:bodyPr>
            <a:normAutofit/>
          </a:bodyPr>
          <a:lstStyle/>
          <a:p>
            <a:r>
              <a:rPr lang="en-IN" sz="3600" b="1" dirty="0">
                <a:solidFill>
                  <a:srgbClr val="FF0000"/>
                </a:solidFill>
                <a:latin typeface="Times New Roman" panose="02020603050405020304" pitchFamily="18" charset="0"/>
                <a:cs typeface="Times New Roman" panose="02020603050405020304" pitchFamily="18" charset="0"/>
              </a:rPr>
              <a:t>Agenda :</a:t>
            </a:r>
            <a:endParaRPr lang="en-IN" sz="3600" dirty="0"/>
          </a:p>
        </p:txBody>
      </p:sp>
      <p:sp>
        <p:nvSpPr>
          <p:cNvPr id="3" name="Content Placeholder 2">
            <a:extLst>
              <a:ext uri="{FF2B5EF4-FFF2-40B4-BE49-F238E27FC236}">
                <a16:creationId xmlns:a16="http://schemas.microsoft.com/office/drawing/2014/main" id="{44C4EF7B-C8BC-EFA7-1195-46F6520B9708}"/>
              </a:ext>
            </a:extLst>
          </p:cNvPr>
          <p:cNvSpPr>
            <a:spLocks noGrp="1"/>
          </p:cNvSpPr>
          <p:nvPr>
            <p:ph idx="1"/>
          </p:nvPr>
        </p:nvSpPr>
        <p:spPr>
          <a:xfrm>
            <a:off x="416560" y="894079"/>
            <a:ext cx="11450976" cy="5049521"/>
          </a:xfrm>
        </p:spPr>
        <p:txBody>
          <a:bodyPr>
            <a:normAutofit fontScale="55000" lnSpcReduction="20000"/>
          </a:bodyPr>
          <a:lstStyle/>
          <a:p>
            <a:pPr lvl="0">
              <a:buSzPct val="120000"/>
            </a:pPr>
            <a:r>
              <a:rPr lang="en-US" sz="4400" dirty="0">
                <a:latin typeface="Mongolian Baiti" panose="03000500000000000000" pitchFamily="66" charset="0"/>
                <a:cs typeface="Mongolian Baiti" panose="03000500000000000000" pitchFamily="66" charset="0"/>
              </a:rPr>
              <a:t>    Business Problem Statement</a:t>
            </a:r>
          </a:p>
          <a:p>
            <a:pPr marL="368300" lvl="0" indent="-571500">
              <a:buSzPct val="120000"/>
            </a:pPr>
            <a:r>
              <a:rPr lang="en-US" sz="4400" dirty="0">
                <a:latin typeface="Mongolian Baiti" panose="03000500000000000000" pitchFamily="66" charset="0"/>
                <a:cs typeface="Mongolian Baiti" panose="03000500000000000000" pitchFamily="66" charset="0"/>
              </a:rPr>
              <a:t>Objective</a:t>
            </a:r>
          </a:p>
          <a:p>
            <a:pPr marL="368300" lvl="0" indent="-571500">
              <a:buSzPct val="120000"/>
            </a:pPr>
            <a:r>
              <a:rPr lang="en-US" sz="4400" dirty="0">
                <a:latin typeface="Mongolian Baiti" panose="03000500000000000000" pitchFamily="66" charset="0"/>
                <a:cs typeface="Mongolian Baiti" panose="03000500000000000000" pitchFamily="66" charset="0"/>
              </a:rPr>
              <a:t>Problem Statement</a:t>
            </a:r>
          </a:p>
          <a:p>
            <a:pPr marL="368300" lvl="0" indent="-571500">
              <a:buSzPct val="120000"/>
            </a:pPr>
            <a:r>
              <a:rPr lang="en-US" sz="4400" dirty="0">
                <a:latin typeface="Mongolian Baiti" panose="03000500000000000000" pitchFamily="66" charset="0"/>
                <a:cs typeface="Mongolian Baiti" panose="03000500000000000000" pitchFamily="66" charset="0"/>
              </a:rPr>
              <a:t>Dataset Overview</a:t>
            </a:r>
          </a:p>
          <a:p>
            <a:pPr marL="368300" lvl="0" indent="-571500">
              <a:buSzPct val="120000"/>
            </a:pPr>
            <a:r>
              <a:rPr lang="en-US" sz="4400" dirty="0">
                <a:latin typeface="Mongolian Baiti" panose="03000500000000000000" pitchFamily="66" charset="0"/>
                <a:cs typeface="Mongolian Baiti" panose="03000500000000000000" pitchFamily="66" charset="0"/>
              </a:rPr>
              <a:t>Raw Dataset</a:t>
            </a:r>
          </a:p>
          <a:p>
            <a:pPr marL="368300" lvl="0" indent="-571500">
              <a:buSzPct val="120000"/>
            </a:pPr>
            <a:r>
              <a:rPr lang="en-US" sz="4400" dirty="0">
                <a:latin typeface="Mongolian Baiti" panose="03000500000000000000" pitchFamily="66" charset="0"/>
                <a:cs typeface="Mongolian Baiti" panose="03000500000000000000" pitchFamily="66" charset="0"/>
              </a:rPr>
              <a:t>Data Preparation</a:t>
            </a:r>
          </a:p>
          <a:p>
            <a:pPr marL="368300" lvl="0" indent="-571500">
              <a:buSzPct val="120000"/>
            </a:pPr>
            <a:r>
              <a:rPr lang="en-US" sz="4400" dirty="0">
                <a:latin typeface="Mongolian Baiti" panose="03000500000000000000" pitchFamily="66" charset="0"/>
                <a:cs typeface="Mongolian Baiti" panose="03000500000000000000" pitchFamily="66" charset="0"/>
              </a:rPr>
              <a:t>Dashboard Visualizations</a:t>
            </a:r>
          </a:p>
          <a:p>
            <a:pPr marL="368300" lvl="0" indent="-571500">
              <a:buSzPct val="120000"/>
            </a:pPr>
            <a:r>
              <a:rPr lang="en-US" sz="4400" dirty="0">
                <a:latin typeface="Mongolian Baiti" panose="03000500000000000000" pitchFamily="66" charset="0"/>
                <a:cs typeface="Mongolian Baiti" panose="03000500000000000000" pitchFamily="66" charset="0"/>
              </a:rPr>
              <a:t>Key Insights &amp; Findings</a:t>
            </a:r>
          </a:p>
          <a:p>
            <a:pPr marL="368300" lvl="0" indent="-571500">
              <a:buSzPct val="120000"/>
            </a:pPr>
            <a:r>
              <a:rPr lang="en-US" sz="4400" dirty="0">
                <a:latin typeface="Mongolian Baiti" panose="03000500000000000000" pitchFamily="66" charset="0"/>
                <a:cs typeface="Mongolian Baiti" panose="03000500000000000000" pitchFamily="66" charset="0"/>
              </a:rPr>
              <a:t>Applications &amp; Recommendation</a:t>
            </a:r>
          </a:p>
          <a:p>
            <a:pPr marL="368300" lvl="0" indent="-571500">
              <a:buSzPct val="120000"/>
            </a:pPr>
            <a:r>
              <a:rPr lang="en-US" sz="4400" dirty="0">
                <a:latin typeface="Mongolian Baiti" panose="03000500000000000000" pitchFamily="66" charset="0"/>
                <a:cs typeface="Mongolian Baiti" panose="03000500000000000000" pitchFamily="66" charset="0"/>
              </a:rPr>
              <a:t>Conclusion</a:t>
            </a:r>
          </a:p>
          <a:p>
            <a:endParaRPr lang="en-IN" dirty="0"/>
          </a:p>
        </p:txBody>
      </p:sp>
    </p:spTree>
    <p:extLst>
      <p:ext uri="{BB962C8B-B14F-4D97-AF65-F5344CB8AC3E}">
        <p14:creationId xmlns:p14="http://schemas.microsoft.com/office/powerpoint/2010/main" val="1797779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166AC-075D-DF93-1CBD-9469386DC1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481FCC-1501-59D7-EA37-FF61B5B69872}"/>
              </a:ext>
            </a:extLst>
          </p:cNvPr>
          <p:cNvSpPr>
            <a:spLocks noGrp="1"/>
          </p:cNvSpPr>
          <p:nvPr>
            <p:ph type="title"/>
          </p:nvPr>
        </p:nvSpPr>
        <p:spPr>
          <a:xfrm>
            <a:off x="324464" y="91440"/>
            <a:ext cx="11867535" cy="650240"/>
          </a:xfrm>
        </p:spPr>
        <p:txBody>
          <a:bodyPr>
            <a:normAutofit/>
          </a:bodyPr>
          <a:lstStyle/>
          <a:p>
            <a:r>
              <a:rPr lang="en-IN" sz="3600" b="1" dirty="0">
                <a:solidFill>
                  <a:srgbClr val="FF0000"/>
                </a:solidFill>
                <a:latin typeface="Times New Roman" panose="02020603050405020304" pitchFamily="18" charset="0"/>
                <a:cs typeface="Times New Roman" panose="02020603050405020304" pitchFamily="18" charset="0"/>
              </a:rPr>
              <a:t>BUSINESS PROBLEM STATEMENT</a:t>
            </a:r>
          </a:p>
        </p:txBody>
      </p:sp>
      <p:sp>
        <p:nvSpPr>
          <p:cNvPr id="3" name="Content Placeholder 2">
            <a:extLst>
              <a:ext uri="{FF2B5EF4-FFF2-40B4-BE49-F238E27FC236}">
                <a16:creationId xmlns:a16="http://schemas.microsoft.com/office/drawing/2014/main" id="{9F3A1DE2-727E-AB9A-FF36-180D33B7BD3F}"/>
              </a:ext>
            </a:extLst>
          </p:cNvPr>
          <p:cNvSpPr>
            <a:spLocks noGrp="1"/>
          </p:cNvSpPr>
          <p:nvPr>
            <p:ph idx="1"/>
          </p:nvPr>
        </p:nvSpPr>
        <p:spPr>
          <a:xfrm>
            <a:off x="416560" y="883921"/>
            <a:ext cx="11450976" cy="5090160"/>
          </a:xfrm>
        </p:spPr>
        <p:txBody>
          <a:bodyPr>
            <a:normAutofit/>
          </a:bodyPr>
          <a:lstStyle/>
          <a:p>
            <a:pPr marL="0" indent="0">
              <a:lnSpc>
                <a:spcPct val="150000"/>
              </a:lnSpc>
              <a:buNone/>
            </a:pPr>
            <a:r>
              <a:rPr lang="en-US" dirty="0">
                <a:latin typeface="Mongolian Baiti" panose="03000500000000000000" pitchFamily="66" charset="0"/>
                <a:cs typeface="Mongolian Baiti" panose="03000500000000000000" pitchFamily="66" charset="0"/>
              </a:rPr>
              <a:t>The organization is facing a significant customer churn problem, where a large number of customers discontinue services and switch to competitors. This directly results in revenue loss, reduced customer lifetime value, and increased costs of acquiring new customers.</a:t>
            </a:r>
          </a:p>
          <a:p>
            <a:pPr marL="0" indent="0">
              <a:lnSpc>
                <a:spcPct val="150000"/>
              </a:lnSpc>
              <a:buNone/>
            </a:pPr>
            <a:r>
              <a:rPr lang="en-US" dirty="0">
                <a:latin typeface="Mongolian Baiti" panose="03000500000000000000" pitchFamily="66" charset="0"/>
                <a:cs typeface="Mongolian Baiti" panose="03000500000000000000" pitchFamily="66" charset="0"/>
              </a:rPr>
              <a:t>Due to the lack of clear, data-driven insights, the organization is unable to identify the key reasons behind customer churn or detect high-risk customers in advance. As a result, management struggles to take timely and targeted actions to retain customers.</a:t>
            </a:r>
          </a:p>
          <a:p>
            <a:pPr marL="0" indent="0">
              <a:lnSpc>
                <a:spcPct val="150000"/>
              </a:lnSpc>
              <a:buNone/>
            </a:pPr>
            <a:r>
              <a:rPr lang="en-US" dirty="0">
                <a:latin typeface="Mongolian Baiti" panose="03000500000000000000" pitchFamily="66" charset="0"/>
                <a:cs typeface="Mongolian Baiti" panose="03000500000000000000" pitchFamily="66" charset="0"/>
              </a:rPr>
              <a:t>To address this challenge, the business requires a data-driven analytical solution that can identify churn drivers, highlight high-risk customer segments, and quantify the business impact of churn, enabling informed decision-making and effective customer retention strategies.</a:t>
            </a:r>
          </a:p>
          <a:p>
            <a:pPr lvl="0">
              <a:buSzPct val="120000"/>
            </a:pPr>
            <a:endParaRPr lang="en-IN" dirty="0"/>
          </a:p>
        </p:txBody>
      </p:sp>
    </p:spTree>
    <p:extLst>
      <p:ext uri="{BB962C8B-B14F-4D97-AF65-F5344CB8AC3E}">
        <p14:creationId xmlns:p14="http://schemas.microsoft.com/office/powerpoint/2010/main" val="1554923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A435E3BF-77E4-C6C4-718C-FC43A8719909}"/>
            </a:ext>
          </a:extLst>
        </p:cNvPr>
        <p:cNvGrpSpPr/>
        <p:nvPr/>
      </p:nvGrpSpPr>
      <p:grpSpPr>
        <a:xfrm>
          <a:off x="0" y="0"/>
          <a:ext cx="0" cy="0"/>
          <a:chOff x="0" y="0"/>
          <a:chExt cx="0" cy="0"/>
        </a:xfrm>
      </p:grpSpPr>
      <p:sp>
        <p:nvSpPr>
          <p:cNvPr id="2" name="Google Shape;110;p4">
            <a:extLst>
              <a:ext uri="{FF2B5EF4-FFF2-40B4-BE49-F238E27FC236}">
                <a16:creationId xmlns:a16="http://schemas.microsoft.com/office/drawing/2014/main" id="{088A461C-C9E1-E947-B3B7-5F0631978C14}"/>
              </a:ext>
            </a:extLst>
          </p:cNvPr>
          <p:cNvSpPr txBox="1">
            <a:spLocks/>
          </p:cNvSpPr>
          <p:nvPr/>
        </p:nvSpPr>
        <p:spPr>
          <a:xfrm>
            <a:off x="176980" y="152399"/>
            <a:ext cx="10245101" cy="894081"/>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rgbClr val="FF0000"/>
              </a:buClr>
              <a:buSzPts val="4400"/>
              <a:buFont typeface="Calibri"/>
              <a:buNone/>
            </a:pPr>
            <a:r>
              <a:rPr lang="en-IN" sz="3600" b="1" dirty="0">
                <a:solidFill>
                  <a:srgbClr val="FF0000"/>
                </a:solidFill>
                <a:latin typeface="Times New Roman" panose="02020603050405020304" pitchFamily="18" charset="0"/>
                <a:cs typeface="Times New Roman" panose="02020603050405020304" pitchFamily="18" charset="0"/>
              </a:rPr>
              <a:t>OBJECTIVE</a:t>
            </a:r>
          </a:p>
        </p:txBody>
      </p:sp>
      <p:sp>
        <p:nvSpPr>
          <p:cNvPr id="3" name="Google Shape;111;p4">
            <a:extLst>
              <a:ext uri="{FF2B5EF4-FFF2-40B4-BE49-F238E27FC236}">
                <a16:creationId xmlns:a16="http://schemas.microsoft.com/office/drawing/2014/main" id="{319EB41F-34A6-5E09-D565-F2F2D822A7DC}"/>
              </a:ext>
            </a:extLst>
          </p:cNvPr>
          <p:cNvSpPr txBox="1">
            <a:spLocks/>
          </p:cNvSpPr>
          <p:nvPr/>
        </p:nvSpPr>
        <p:spPr>
          <a:xfrm>
            <a:off x="416560" y="1046480"/>
            <a:ext cx="11244498" cy="460248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lnSpc>
                <a:spcPct val="150000"/>
              </a:lnSpc>
              <a:buFont typeface="Courier New" panose="02070309020205020404" pitchFamily="49" charset="0"/>
              <a:buChar char="o"/>
            </a:pPr>
            <a:r>
              <a:rPr lang="en-US" sz="2000" dirty="0">
                <a:latin typeface="Mongolian Baiti" panose="03000500000000000000" pitchFamily="66" charset="0"/>
                <a:cs typeface="Mongolian Baiti" panose="03000500000000000000" pitchFamily="66" charset="0"/>
              </a:rPr>
              <a:t>Analyze customer data to understand churn patterns and behavior.</a:t>
            </a:r>
          </a:p>
          <a:p>
            <a:pPr marL="342900" indent="-342900">
              <a:lnSpc>
                <a:spcPct val="150000"/>
              </a:lnSpc>
              <a:buFont typeface="Courier New" panose="02070309020205020404" pitchFamily="49" charset="0"/>
              <a:buChar char="o"/>
            </a:pPr>
            <a:r>
              <a:rPr lang="en-US" sz="2000" dirty="0">
                <a:latin typeface="Mongolian Baiti" panose="03000500000000000000" pitchFamily="66" charset="0"/>
                <a:cs typeface="Mongolian Baiti" panose="03000500000000000000" pitchFamily="66" charset="0"/>
              </a:rPr>
              <a:t>Identify key factors influencing churn such as contract type, tenure, and charges.</a:t>
            </a:r>
          </a:p>
          <a:p>
            <a:pPr marL="342900" indent="-342900">
              <a:lnSpc>
                <a:spcPct val="150000"/>
              </a:lnSpc>
              <a:buFont typeface="Courier New" panose="02070309020205020404" pitchFamily="49" charset="0"/>
              <a:buChar char="o"/>
            </a:pPr>
            <a:r>
              <a:rPr lang="en-US" sz="2000" dirty="0">
                <a:latin typeface="Mongolian Baiti" panose="03000500000000000000" pitchFamily="66" charset="0"/>
                <a:cs typeface="Mongolian Baiti" panose="03000500000000000000" pitchFamily="66" charset="0"/>
              </a:rPr>
              <a:t>Detect high-risk customers early using data-driven insights.</a:t>
            </a:r>
          </a:p>
          <a:p>
            <a:pPr marL="342900" indent="-342900">
              <a:lnSpc>
                <a:spcPct val="150000"/>
              </a:lnSpc>
              <a:buFont typeface="Courier New" panose="02070309020205020404" pitchFamily="49" charset="0"/>
              <a:buChar char="o"/>
            </a:pPr>
            <a:r>
              <a:rPr lang="en-US" sz="2000" dirty="0">
                <a:latin typeface="Mongolian Baiti" panose="03000500000000000000" pitchFamily="66" charset="0"/>
                <a:cs typeface="Mongolian Baiti" panose="03000500000000000000" pitchFamily="66" charset="0"/>
              </a:rPr>
              <a:t>Measure the business impact of churn on revenue and customer value.</a:t>
            </a:r>
          </a:p>
          <a:p>
            <a:pPr marL="342900" indent="-342900">
              <a:lnSpc>
                <a:spcPct val="150000"/>
              </a:lnSpc>
              <a:buFont typeface="Courier New" panose="02070309020205020404" pitchFamily="49" charset="0"/>
              <a:buChar char="o"/>
            </a:pPr>
            <a:r>
              <a:rPr lang="en-US" sz="2000" dirty="0">
                <a:latin typeface="Mongolian Baiti" panose="03000500000000000000" pitchFamily="66" charset="0"/>
                <a:cs typeface="Mongolian Baiti" panose="03000500000000000000" pitchFamily="66" charset="0"/>
              </a:rPr>
              <a:t>Provide interactive dashboards to support better management decisions.</a:t>
            </a:r>
          </a:p>
          <a:p>
            <a:pPr marL="342900" indent="-342900">
              <a:lnSpc>
                <a:spcPct val="150000"/>
              </a:lnSpc>
              <a:buFont typeface="Courier New" panose="02070309020205020404" pitchFamily="49" charset="0"/>
              <a:buChar char="o"/>
            </a:pPr>
            <a:r>
              <a:rPr lang="en-US" sz="2000" dirty="0">
                <a:latin typeface="Mongolian Baiti" panose="03000500000000000000" pitchFamily="66" charset="0"/>
                <a:cs typeface="Mongolian Baiti" panose="03000500000000000000" pitchFamily="66" charset="0"/>
              </a:rPr>
              <a:t>Help the organization reduce churn and improve customer retention.</a:t>
            </a:r>
          </a:p>
          <a:p>
            <a:pPr marL="342900" indent="-342900">
              <a:lnSpc>
                <a:spcPct val="150000"/>
              </a:lnSpc>
              <a:buFont typeface="Courier New" panose="02070309020205020404" pitchFamily="49" charset="0"/>
              <a:buChar char="o"/>
            </a:pPr>
            <a:r>
              <a:rPr lang="en-US" sz="2000" dirty="0">
                <a:latin typeface="Mongolian Baiti" panose="03000500000000000000" pitchFamily="66" charset="0"/>
                <a:cs typeface="Mongolian Baiti" panose="03000500000000000000" pitchFamily="66" charset="0"/>
              </a:rPr>
              <a:t>Enable targeted retention strategies by identifying the most vulnerable customer segments.</a:t>
            </a:r>
          </a:p>
          <a:p>
            <a:pPr marL="342900" indent="-342900">
              <a:lnSpc>
                <a:spcPct val="150000"/>
              </a:lnSpc>
              <a:buFont typeface="Courier New" panose="02070309020205020404" pitchFamily="49" charset="0"/>
              <a:buChar char="o"/>
            </a:pPr>
            <a:r>
              <a:rPr lang="en-US" sz="2000" dirty="0">
                <a:latin typeface="Mongolian Baiti" panose="03000500000000000000" pitchFamily="66" charset="0"/>
                <a:cs typeface="Mongolian Baiti" panose="03000500000000000000" pitchFamily="66" charset="0"/>
              </a:rPr>
              <a:t>Support cost-effective decision-making by focusing retention efforts on high-value customers.</a:t>
            </a:r>
          </a:p>
          <a:p>
            <a:endParaRPr lang="en-US" sz="2000" dirty="0">
              <a:latin typeface="Mongolian Baiti" panose="03000500000000000000" pitchFamily="66" charset="0"/>
              <a:cs typeface="Mongolian Baiti" panose="03000500000000000000" pitchFamily="66" charset="0"/>
            </a:endParaRPr>
          </a:p>
          <a:p>
            <a:endParaRPr lang="en-US" sz="2000" dirty="0">
              <a:latin typeface="Mongolian Baiti" panose="03000500000000000000" pitchFamily="66" charset="0"/>
              <a:cs typeface="Mongolian Baiti" panose="03000500000000000000" pitchFamily="66" charset="0"/>
            </a:endParaRPr>
          </a:p>
          <a:p>
            <a:pPr marL="342900" indent="-342900" algn="just">
              <a:lnSpc>
                <a:spcPct val="150000"/>
              </a:lnSpc>
              <a:buSzPct val="120000"/>
              <a:buFont typeface="Wingdings" panose="05000000000000000000" pitchFamily="2" charset="2"/>
              <a:buChar char="Ø"/>
            </a:pPr>
            <a:endParaRPr lang="en-US" sz="2000" b="1" dirty="0">
              <a:latin typeface="Calisto MT" panose="02040603050505030304" pitchFamily="18" charset="0"/>
              <a:cs typeface="Times New Roman" panose="02020603050405020304" pitchFamily="18" charset="0"/>
            </a:endParaRPr>
          </a:p>
          <a:p>
            <a:pPr algn="just">
              <a:lnSpc>
                <a:spcPct val="150000"/>
              </a:lnSpc>
              <a:buSzPct val="120000"/>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6549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2F42B17-B430-B94D-5D8A-4640566451EB}"/>
            </a:ext>
          </a:extLst>
        </p:cNvPr>
        <p:cNvGrpSpPr/>
        <p:nvPr/>
      </p:nvGrpSpPr>
      <p:grpSpPr>
        <a:xfrm>
          <a:off x="0" y="0"/>
          <a:ext cx="0" cy="0"/>
          <a:chOff x="0" y="0"/>
          <a:chExt cx="0" cy="0"/>
        </a:xfrm>
      </p:grpSpPr>
      <p:sp>
        <p:nvSpPr>
          <p:cNvPr id="2" name="Google Shape;110;p4">
            <a:extLst>
              <a:ext uri="{FF2B5EF4-FFF2-40B4-BE49-F238E27FC236}">
                <a16:creationId xmlns:a16="http://schemas.microsoft.com/office/drawing/2014/main" id="{B5076897-D17A-52EB-548F-D9126605F867}"/>
              </a:ext>
            </a:extLst>
          </p:cNvPr>
          <p:cNvSpPr txBox="1">
            <a:spLocks/>
          </p:cNvSpPr>
          <p:nvPr/>
        </p:nvSpPr>
        <p:spPr>
          <a:xfrm>
            <a:off x="176980" y="1"/>
            <a:ext cx="10245101" cy="935182"/>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rgbClr val="FF0000"/>
              </a:buClr>
              <a:buSzPts val="4400"/>
              <a:buFont typeface="Calibri"/>
              <a:buNone/>
            </a:pPr>
            <a:r>
              <a:rPr lang="en-IN" sz="3600" b="1" dirty="0">
                <a:solidFill>
                  <a:srgbClr val="FF0000"/>
                </a:solidFill>
                <a:latin typeface="Times New Roman" panose="02020603050405020304" pitchFamily="18" charset="0"/>
                <a:cs typeface="Times New Roman" panose="02020603050405020304" pitchFamily="18" charset="0"/>
              </a:rPr>
              <a:t>PROBLEM STATEMENT</a:t>
            </a:r>
          </a:p>
        </p:txBody>
      </p:sp>
      <p:sp>
        <p:nvSpPr>
          <p:cNvPr id="3" name="Google Shape;111;p4">
            <a:extLst>
              <a:ext uri="{FF2B5EF4-FFF2-40B4-BE49-F238E27FC236}">
                <a16:creationId xmlns:a16="http://schemas.microsoft.com/office/drawing/2014/main" id="{92203100-8B7E-839B-CC3B-90783A39AC21}"/>
              </a:ext>
            </a:extLst>
          </p:cNvPr>
          <p:cNvSpPr txBox="1">
            <a:spLocks/>
          </p:cNvSpPr>
          <p:nvPr/>
        </p:nvSpPr>
        <p:spPr>
          <a:xfrm>
            <a:off x="518160" y="935183"/>
            <a:ext cx="11142898" cy="506249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50000"/>
              </a:lnSpc>
            </a:pPr>
            <a:r>
              <a:rPr lang="en-US" sz="2000" dirty="0">
                <a:latin typeface="Mongolian Baiti" panose="03000500000000000000" pitchFamily="66" charset="0"/>
                <a:cs typeface="Mongolian Baiti" panose="03000500000000000000" pitchFamily="66" charset="0"/>
              </a:rPr>
              <a:t>The telecom company is facing a high rate of customer churn, where customers discontinue services and move to competitors. Customer churn leads to loss of revenue, reduced customer lifetime value, and impacts long-term business growth. The organization lacks clear visibility into the reasons behind customer churn. It is difficult to identify high-risk customers early using raw data alone. Customer behavior varies based on contract type, tenure, service usage, and billing patterns. Factors such as high monthly charges, short-term contracts, limited services, and lack of customer support may influence churn.</a:t>
            </a:r>
          </a:p>
          <a:p>
            <a:pPr>
              <a:lnSpc>
                <a:spcPct val="150000"/>
              </a:lnSpc>
            </a:pPr>
            <a:endParaRPr lang="en-US" sz="2000" dirty="0">
              <a:latin typeface="Mongolian Baiti" panose="03000500000000000000" pitchFamily="66" charset="0"/>
              <a:cs typeface="Mongolian Baiti" panose="03000500000000000000" pitchFamily="66" charset="0"/>
            </a:endParaRPr>
          </a:p>
          <a:p>
            <a:pPr>
              <a:lnSpc>
                <a:spcPct val="150000"/>
              </a:lnSpc>
            </a:pPr>
            <a:r>
              <a:rPr lang="en-US" sz="2000" dirty="0">
                <a:latin typeface="Mongolian Baiti" panose="03000500000000000000" pitchFamily="66" charset="0"/>
                <a:cs typeface="Mongolian Baiti" panose="03000500000000000000" pitchFamily="66" charset="0"/>
              </a:rPr>
              <a:t>Existing data is not effectively transformed into actionable insights for decision-makers. There is a need for a data-driven analytical solution to study churn patterns. Interactive dashboards are required to explore churn across customer segments. The analysis should support better decision-making and help design customer retention strategies.</a:t>
            </a:r>
          </a:p>
          <a:p>
            <a:endParaRPr lang="en-US" sz="2000" dirty="0">
              <a:latin typeface="Mongolian Baiti" panose="03000500000000000000" pitchFamily="66" charset="0"/>
              <a:cs typeface="Mongolian Baiti" panose="03000500000000000000" pitchFamily="66" charset="0"/>
            </a:endParaRPr>
          </a:p>
          <a:p>
            <a:endParaRPr lang="en-US" sz="2000" dirty="0">
              <a:latin typeface="Mongolian Baiti" panose="03000500000000000000" pitchFamily="66" charset="0"/>
              <a:cs typeface="Mongolian Baiti" panose="03000500000000000000" pitchFamily="66" charset="0"/>
            </a:endParaRPr>
          </a:p>
          <a:p>
            <a:endParaRPr lang="en-US" sz="2000" dirty="0">
              <a:latin typeface="Mongolian Baiti" panose="03000500000000000000" pitchFamily="66" charset="0"/>
              <a:cs typeface="Mongolian Baiti" panose="03000500000000000000" pitchFamily="66" charset="0"/>
            </a:endParaRPr>
          </a:p>
          <a:p>
            <a:pPr marL="342900" indent="-342900" algn="just">
              <a:lnSpc>
                <a:spcPct val="150000"/>
              </a:lnSpc>
              <a:buSzPct val="120000"/>
              <a:buFont typeface="Wingdings" panose="05000000000000000000" pitchFamily="2" charset="2"/>
              <a:buChar char="Ø"/>
            </a:pPr>
            <a:endParaRPr lang="en-US" sz="2000" b="1" dirty="0">
              <a:latin typeface="Calisto MT" panose="02040603050505030304" pitchFamily="18" charset="0"/>
              <a:cs typeface="Times New Roman" panose="02020603050405020304" pitchFamily="18" charset="0"/>
            </a:endParaRPr>
          </a:p>
          <a:p>
            <a:pPr algn="just">
              <a:lnSpc>
                <a:spcPct val="150000"/>
              </a:lnSpc>
              <a:buSzPct val="120000"/>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4647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F22CDF9-FDC6-849A-0CCB-21EA18526D64}"/>
              </a:ext>
            </a:extLst>
          </p:cNvPr>
          <p:cNvSpPr>
            <a:spLocks noGrp="1"/>
          </p:cNvSpPr>
          <p:nvPr>
            <p:ph type="title"/>
          </p:nvPr>
        </p:nvSpPr>
        <p:spPr>
          <a:xfrm>
            <a:off x="182880" y="142240"/>
            <a:ext cx="10332719" cy="600075"/>
          </a:xfrm>
        </p:spPr>
        <p:txBody>
          <a:bodyPr>
            <a:noAutofit/>
          </a:bodyPr>
          <a:lstStyle/>
          <a:p>
            <a:r>
              <a:rPr lang="en-IN" sz="3600" b="1" dirty="0">
                <a:solidFill>
                  <a:srgbClr val="FF0000"/>
                </a:solidFill>
                <a:latin typeface="Times New Roman" panose="02020603050405020304" pitchFamily="18" charset="0"/>
                <a:cs typeface="Times New Roman" panose="02020603050405020304" pitchFamily="18" charset="0"/>
              </a:rPr>
              <a:t> Dataset Overview :</a:t>
            </a:r>
            <a:endParaRPr lang="en-IN" sz="3600" dirty="0"/>
          </a:p>
        </p:txBody>
      </p:sp>
      <p:sp>
        <p:nvSpPr>
          <p:cNvPr id="10" name="Text Placeholder 9">
            <a:extLst>
              <a:ext uri="{FF2B5EF4-FFF2-40B4-BE49-F238E27FC236}">
                <a16:creationId xmlns:a16="http://schemas.microsoft.com/office/drawing/2014/main" id="{33DB8C15-67EC-933D-496A-DDD3D5579C2A}"/>
              </a:ext>
            </a:extLst>
          </p:cNvPr>
          <p:cNvSpPr>
            <a:spLocks noGrp="1"/>
          </p:cNvSpPr>
          <p:nvPr>
            <p:ph idx="1"/>
          </p:nvPr>
        </p:nvSpPr>
        <p:spPr>
          <a:xfrm>
            <a:off x="589935" y="993057"/>
            <a:ext cx="10763865" cy="4454014"/>
          </a:xfrm>
        </p:spPr>
        <p:txBody>
          <a:bodyPr>
            <a:normAutofit/>
          </a:bodyPr>
          <a:lstStyle/>
          <a:p>
            <a:pPr marL="114300" lvl="0" indent="0" eaLnBrk="0" fontAlgn="base" hangingPunct="0">
              <a:lnSpc>
                <a:spcPct val="150000"/>
              </a:lnSpc>
              <a:spcBef>
                <a:spcPct val="0"/>
              </a:spcBef>
              <a:spcAft>
                <a:spcPct val="0"/>
              </a:spcAft>
              <a:buClrTx/>
              <a:buSzPct val="120000"/>
              <a:buNone/>
            </a:pPr>
            <a:r>
              <a:rPr lang="en-US" dirty="0">
                <a:latin typeface="Mongolian Baiti" panose="03000500000000000000" pitchFamily="66" charset="0"/>
                <a:cs typeface="Mongolian Baiti" panose="03000500000000000000" pitchFamily="66" charset="0"/>
              </a:rPr>
              <a:t>This project is based on a telecom customer churn dataset collected from a service provider for analytical purposes. </a:t>
            </a:r>
            <a:r>
              <a:rPr lang="en-US" altLang="en-US" dirty="0">
                <a:solidFill>
                  <a:schemeClr val="tx1"/>
                </a:solidFill>
                <a:latin typeface="Mongolian Baiti" panose="03000500000000000000" pitchFamily="66" charset="0"/>
                <a:cs typeface="Mongolian Baiti" panose="03000500000000000000" pitchFamily="66" charset="0"/>
              </a:rPr>
              <a:t>It contains 7,043 customer records and 21 columns of information.</a:t>
            </a:r>
          </a:p>
          <a:p>
            <a:pPr marL="114300" indent="0" algn="just" eaLnBrk="0" fontAlgn="base" hangingPunct="0">
              <a:lnSpc>
                <a:spcPct val="150000"/>
              </a:lnSpc>
              <a:buSzPct val="120000"/>
              <a:buNone/>
            </a:pPr>
            <a:r>
              <a:rPr lang="en-US" altLang="en-US" dirty="0">
                <a:solidFill>
                  <a:schemeClr val="tx1"/>
                </a:solidFill>
                <a:latin typeface="Mongolian Baiti" panose="03000500000000000000" pitchFamily="66" charset="0"/>
                <a:cs typeface="Mongolian Baiti" panose="03000500000000000000" pitchFamily="66" charset="0"/>
              </a:rPr>
              <a:t>Dataset includes: </a:t>
            </a:r>
          </a:p>
          <a:p>
            <a:pPr marL="742950" lvl="1" indent="-285750" algn="just" eaLnBrk="0" fontAlgn="base" hangingPunct="0">
              <a:lnSpc>
                <a:spcPct val="150000"/>
              </a:lnSpc>
              <a:buSzPct val="120000"/>
              <a:buFont typeface="Arial" panose="020B0604020202020204" pitchFamily="34" charset="0"/>
              <a:buChar char="•"/>
            </a:pPr>
            <a:r>
              <a:rPr lang="en-US" sz="2000" b="1" dirty="0">
                <a:latin typeface="Mongolian Baiti" panose="03000500000000000000" pitchFamily="66" charset="0"/>
                <a:cs typeface="Mongolian Baiti" panose="03000500000000000000" pitchFamily="66" charset="0"/>
              </a:rPr>
              <a:t>Demographic details</a:t>
            </a:r>
            <a:r>
              <a:rPr lang="en-US" sz="2000" dirty="0">
                <a:latin typeface="Mongolian Baiti" panose="03000500000000000000" pitchFamily="66" charset="0"/>
                <a:cs typeface="Mongolian Baiti" panose="03000500000000000000" pitchFamily="66" charset="0"/>
              </a:rPr>
              <a:t>: Gender, Senior Citizen, Partner, Dependents</a:t>
            </a:r>
            <a:endParaRPr lang="en-IN" sz="2000" dirty="0">
              <a:latin typeface="Mongolian Baiti" panose="03000500000000000000" pitchFamily="66" charset="0"/>
              <a:cs typeface="Mongolian Baiti" panose="03000500000000000000" pitchFamily="66" charset="0"/>
            </a:endParaRPr>
          </a:p>
          <a:p>
            <a:pPr marL="742950" lvl="1" indent="-285750" algn="just" eaLnBrk="0" fontAlgn="base" hangingPunct="0">
              <a:lnSpc>
                <a:spcPct val="150000"/>
              </a:lnSpc>
              <a:buSzPct val="120000"/>
              <a:buFont typeface="Arial" panose="020B0604020202020204" pitchFamily="34" charset="0"/>
              <a:buChar char="•"/>
            </a:pPr>
            <a:r>
              <a:rPr lang="en-US" sz="2000" b="1" dirty="0">
                <a:latin typeface="Mongolian Baiti" panose="03000500000000000000" pitchFamily="66" charset="0"/>
                <a:cs typeface="Mongolian Baiti" panose="03000500000000000000" pitchFamily="66" charset="0"/>
              </a:rPr>
              <a:t>Account details</a:t>
            </a:r>
            <a:r>
              <a:rPr lang="en-US" sz="2000" dirty="0">
                <a:latin typeface="Mongolian Baiti" panose="03000500000000000000" pitchFamily="66" charset="0"/>
                <a:cs typeface="Mongolian Baiti" panose="03000500000000000000" pitchFamily="66" charset="0"/>
              </a:rPr>
              <a:t>: Tenure, Contract Type, Payment Method, Paperless Billing</a:t>
            </a:r>
            <a:endParaRPr lang="en-IN" sz="2000" dirty="0">
              <a:latin typeface="Mongolian Baiti" panose="03000500000000000000" pitchFamily="66" charset="0"/>
              <a:cs typeface="Mongolian Baiti" panose="03000500000000000000" pitchFamily="66" charset="0"/>
            </a:endParaRPr>
          </a:p>
          <a:p>
            <a:pPr marL="742950" lvl="1" indent="-285750" algn="just" eaLnBrk="0" fontAlgn="base" hangingPunct="0">
              <a:lnSpc>
                <a:spcPct val="150000"/>
              </a:lnSpc>
              <a:buSzPct val="120000"/>
              <a:buFont typeface="Arial" panose="020B0604020202020204" pitchFamily="34" charset="0"/>
              <a:buChar char="•"/>
            </a:pPr>
            <a:r>
              <a:rPr lang="en-US" sz="2000" b="1" dirty="0">
                <a:latin typeface="Mongolian Baiti" panose="03000500000000000000" pitchFamily="66" charset="0"/>
                <a:cs typeface="Mongolian Baiti" panose="03000500000000000000" pitchFamily="66" charset="0"/>
              </a:rPr>
              <a:t>Services subscribed</a:t>
            </a:r>
            <a:r>
              <a:rPr lang="en-US" sz="2000" dirty="0">
                <a:latin typeface="Mongolian Baiti" panose="03000500000000000000" pitchFamily="66" charset="0"/>
                <a:cs typeface="Mongolian Baiti" panose="03000500000000000000" pitchFamily="66" charset="0"/>
              </a:rPr>
              <a:t>: Internet Service, Phone Service, Streaming TV, Tech Support, Security</a:t>
            </a:r>
            <a:endParaRPr lang="en-IN" sz="2000" dirty="0">
              <a:latin typeface="Mongolian Baiti" panose="03000500000000000000" pitchFamily="66" charset="0"/>
              <a:cs typeface="Mongolian Baiti" panose="03000500000000000000" pitchFamily="66" charset="0"/>
            </a:endParaRPr>
          </a:p>
          <a:p>
            <a:pPr marL="742950" lvl="1" indent="-285750" algn="just" eaLnBrk="0" fontAlgn="base" hangingPunct="0">
              <a:lnSpc>
                <a:spcPct val="150000"/>
              </a:lnSpc>
              <a:buSzPct val="120000"/>
              <a:buFont typeface="Arial" panose="020B0604020202020204" pitchFamily="34" charset="0"/>
              <a:buChar char="•"/>
            </a:pPr>
            <a:r>
              <a:rPr lang="en-US" sz="2000" b="1" dirty="0">
                <a:latin typeface="Mongolian Baiti" panose="03000500000000000000" pitchFamily="66" charset="0"/>
                <a:cs typeface="Mongolian Baiti" panose="03000500000000000000" pitchFamily="66" charset="0"/>
              </a:rPr>
              <a:t>Billing information</a:t>
            </a:r>
            <a:r>
              <a:rPr lang="en-US" sz="2000" dirty="0">
                <a:latin typeface="Mongolian Baiti" panose="03000500000000000000" pitchFamily="66" charset="0"/>
                <a:cs typeface="Mongolian Baiti" panose="03000500000000000000" pitchFamily="66" charset="0"/>
              </a:rPr>
              <a:t>: Monthly Charges, Total Charges</a:t>
            </a:r>
            <a:endParaRPr lang="en-IN" sz="2000" dirty="0">
              <a:latin typeface="Mongolian Baiti" panose="03000500000000000000" pitchFamily="66" charset="0"/>
              <a:cs typeface="Mongolian Baiti" panose="03000500000000000000" pitchFamily="66" charset="0"/>
            </a:endParaRPr>
          </a:p>
          <a:p>
            <a:pPr marL="742950" lvl="1" indent="-285750" algn="just" eaLnBrk="0" fontAlgn="base" hangingPunct="0">
              <a:lnSpc>
                <a:spcPct val="150000"/>
              </a:lnSpc>
              <a:buSzPct val="120000"/>
              <a:buFont typeface="Arial" panose="020B0604020202020204" pitchFamily="34" charset="0"/>
              <a:buChar char="•"/>
            </a:pPr>
            <a:r>
              <a:rPr lang="en-US" sz="2000" b="1" dirty="0">
                <a:latin typeface="Mongolian Baiti" panose="03000500000000000000" pitchFamily="66" charset="0"/>
                <a:cs typeface="Mongolian Baiti" panose="03000500000000000000" pitchFamily="66" charset="0"/>
              </a:rPr>
              <a:t>Target column</a:t>
            </a:r>
            <a:r>
              <a:rPr lang="en-US" sz="2000" dirty="0">
                <a:latin typeface="Mongolian Baiti" panose="03000500000000000000" pitchFamily="66" charset="0"/>
                <a:cs typeface="Mongolian Baiti" panose="03000500000000000000" pitchFamily="66" charset="0"/>
              </a:rPr>
              <a:t>: Churn (Yes/No)</a:t>
            </a:r>
            <a:endParaRPr lang="en-IN" sz="2000" dirty="0">
              <a:latin typeface="Mongolian Baiti" panose="03000500000000000000" pitchFamily="66" charset="0"/>
              <a:cs typeface="Mongolian Baiti" panose="03000500000000000000" pitchFamily="66" charset="0"/>
            </a:endParaRPr>
          </a:p>
          <a:p>
            <a:pPr marL="285750" lvl="0" indent="-285750" eaLnBrk="0" fontAlgn="base" hangingPunct="0">
              <a:lnSpc>
                <a:spcPct val="150000"/>
              </a:lnSpc>
              <a:spcBef>
                <a:spcPct val="0"/>
              </a:spcBef>
              <a:spcAft>
                <a:spcPct val="0"/>
              </a:spcAft>
              <a:buClrTx/>
              <a:buSzPct val="120000"/>
              <a:buFont typeface="Arial" panose="020B0604020202020204" pitchFamily="34" charset="0"/>
              <a:buChar char="•"/>
            </a:pPr>
            <a:endParaRPr lang="en-US" altLang="en-US" dirty="0">
              <a:solidFill>
                <a:schemeClr val="tx1"/>
              </a:solidFill>
              <a:latin typeface="Times New Roman" panose="02020603050405020304" pitchFamily="18" charset="0"/>
              <a:cs typeface="Times New Roman" panose="02020603050405020304" pitchFamily="18" charset="0"/>
            </a:endParaRPr>
          </a:p>
          <a:p>
            <a:pPr marL="285750" lvl="0" indent="-285750" eaLnBrk="0" fontAlgn="base" hangingPunct="0">
              <a:lnSpc>
                <a:spcPct val="150000"/>
              </a:lnSpc>
              <a:spcBef>
                <a:spcPct val="0"/>
              </a:spcBef>
              <a:spcAft>
                <a:spcPct val="0"/>
              </a:spcAft>
              <a:buClrTx/>
              <a:buSzPct val="120000"/>
              <a:buFont typeface="Arial" panose="020B0604020202020204" pitchFamily="34" charset="0"/>
              <a:buChar char="•"/>
            </a:pPr>
            <a:endParaRPr lang="en-US" altLang="en-US"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11394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bg2">
                <a:tint val="94000"/>
                <a:satMod val="80000"/>
                <a:lumMod val="106000"/>
                <a:alpha val="78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E371100-6A38-01EB-85F5-C06780BA433E}"/>
              </a:ext>
            </a:extLst>
          </p:cNvPr>
          <p:cNvSpPr>
            <a:spLocks noGrp="1"/>
          </p:cNvSpPr>
          <p:nvPr>
            <p:ph type="title"/>
          </p:nvPr>
        </p:nvSpPr>
        <p:spPr>
          <a:xfrm>
            <a:off x="284480" y="108155"/>
            <a:ext cx="10378440" cy="643685"/>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Raw Dataset :</a:t>
            </a:r>
            <a:endParaRPr lang="en-IN" sz="3600" b="1" dirty="0">
              <a:solidFill>
                <a:srgbClr val="FF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F3E957C-0E96-34CF-0544-896C007BD798}"/>
              </a:ext>
            </a:extLst>
          </p:cNvPr>
          <p:cNvPicPr>
            <a:picLocks noChangeAspect="1"/>
          </p:cNvPicPr>
          <p:nvPr/>
        </p:nvPicPr>
        <p:blipFill>
          <a:blip r:embed="rId3"/>
          <a:stretch>
            <a:fillRect/>
          </a:stretch>
        </p:blipFill>
        <p:spPr>
          <a:xfrm>
            <a:off x="284481" y="941439"/>
            <a:ext cx="11713252" cy="4886606"/>
          </a:xfrm>
          <a:prstGeom prst="rect">
            <a:avLst/>
          </a:prstGeom>
          <a:effectLst>
            <a:outerShdw blurRad="266700" dist="101600" dir="2700000" sx="101000" sy="101000" algn="tl" rotWithShape="0">
              <a:prstClr val="black">
                <a:alpha val="49000"/>
              </a:prstClr>
            </a:outerShdw>
          </a:effectLst>
          <a:scene3d>
            <a:camera prst="orthographicFront">
              <a:rot lat="0" lon="21299992" rev="0"/>
            </a:camera>
            <a:lightRig rig="threePt" dir="t"/>
          </a:scene3d>
        </p:spPr>
      </p:pic>
    </p:spTree>
    <p:extLst>
      <p:ext uri="{BB962C8B-B14F-4D97-AF65-F5344CB8AC3E}">
        <p14:creationId xmlns:p14="http://schemas.microsoft.com/office/powerpoint/2010/main" val="1090362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E5400F-5A01-71A7-D1D1-BCFA57332CDF}"/>
              </a:ext>
            </a:extLst>
          </p:cNvPr>
          <p:cNvSpPr>
            <a:spLocks noGrp="1"/>
          </p:cNvSpPr>
          <p:nvPr>
            <p:ph type="title"/>
          </p:nvPr>
        </p:nvSpPr>
        <p:spPr>
          <a:xfrm>
            <a:off x="311498" y="81280"/>
            <a:ext cx="10204101" cy="721995"/>
          </a:xfrm>
        </p:spPr>
        <p:txBody>
          <a:bodyPr>
            <a:normAutofit/>
          </a:bodyPr>
          <a:lstStyle/>
          <a:p>
            <a:r>
              <a:rPr lang="en-IN" sz="3600" b="1" dirty="0">
                <a:solidFill>
                  <a:srgbClr val="FF0000"/>
                </a:solidFill>
                <a:latin typeface="Times New Roman" panose="02020603050405020304" pitchFamily="18" charset="0"/>
                <a:cs typeface="Times New Roman" panose="02020603050405020304" pitchFamily="18" charset="0"/>
              </a:rPr>
              <a:t> Data Preparation :</a:t>
            </a:r>
            <a:endParaRPr lang="en-IN" sz="3600" dirty="0"/>
          </a:p>
        </p:txBody>
      </p:sp>
      <p:sp>
        <p:nvSpPr>
          <p:cNvPr id="5" name="Text Placeholder 4">
            <a:extLst>
              <a:ext uri="{FF2B5EF4-FFF2-40B4-BE49-F238E27FC236}">
                <a16:creationId xmlns:a16="http://schemas.microsoft.com/office/drawing/2014/main" id="{7D4CC75E-6692-979C-DA58-D1610AE49936}"/>
              </a:ext>
            </a:extLst>
          </p:cNvPr>
          <p:cNvSpPr>
            <a:spLocks noGrp="1"/>
          </p:cNvSpPr>
          <p:nvPr>
            <p:ph idx="1"/>
          </p:nvPr>
        </p:nvSpPr>
        <p:spPr>
          <a:xfrm>
            <a:off x="517998" y="803275"/>
            <a:ext cx="11156004" cy="5354334"/>
          </a:xfrm>
        </p:spPr>
        <p:txBody>
          <a:bodyPr>
            <a:noAutofit/>
          </a:bodyPr>
          <a:lstStyle/>
          <a:p>
            <a:pPr>
              <a:buFont typeface="Wingdings" panose="05000000000000000000" pitchFamily="2" charset="2"/>
              <a:buChar char="Ø"/>
            </a:pPr>
            <a:r>
              <a:rPr lang="en-US" dirty="0">
                <a:latin typeface="Mongolian Baiti" panose="03000500000000000000" pitchFamily="66" charset="0"/>
                <a:cs typeface="Mongolian Baiti" panose="03000500000000000000" pitchFamily="66" charset="0"/>
              </a:rPr>
              <a:t>Removed </a:t>
            </a:r>
            <a:r>
              <a:rPr lang="en-US" b="1" dirty="0">
                <a:latin typeface="Mongolian Baiti" panose="03000500000000000000" pitchFamily="66" charset="0"/>
                <a:cs typeface="Mongolian Baiti" panose="03000500000000000000" pitchFamily="66" charset="0"/>
              </a:rPr>
              <a:t>blank customer records</a:t>
            </a:r>
            <a:r>
              <a:rPr lang="en-US" dirty="0">
                <a:latin typeface="Mongolian Baiti" panose="03000500000000000000" pitchFamily="66" charset="0"/>
                <a:cs typeface="Mongolian Baiti" panose="03000500000000000000" pitchFamily="66" charset="0"/>
              </a:rPr>
              <a:t> created due to missing tenure or billing information during import.</a:t>
            </a:r>
          </a:p>
          <a:p>
            <a:pPr>
              <a:buFont typeface="Wingdings" panose="05000000000000000000" pitchFamily="2" charset="2"/>
              <a:buChar char="Ø"/>
            </a:pPr>
            <a:r>
              <a:rPr lang="en-US" dirty="0">
                <a:latin typeface="Mongolian Baiti" panose="03000500000000000000" pitchFamily="66" charset="0"/>
                <a:cs typeface="Mongolian Baiti" panose="03000500000000000000" pitchFamily="66" charset="0"/>
              </a:rPr>
              <a:t> Converted </a:t>
            </a:r>
            <a:r>
              <a:rPr lang="en-US" b="1" dirty="0">
                <a:latin typeface="Mongolian Baiti" panose="03000500000000000000" pitchFamily="66" charset="0"/>
                <a:cs typeface="Mongolian Baiti" panose="03000500000000000000" pitchFamily="66" charset="0"/>
              </a:rPr>
              <a:t>tenure</a:t>
            </a:r>
            <a:r>
              <a:rPr lang="en-US" dirty="0">
                <a:latin typeface="Mongolian Baiti" panose="03000500000000000000" pitchFamily="66" charset="0"/>
                <a:cs typeface="Mongolian Baiti" panose="03000500000000000000" pitchFamily="66" charset="0"/>
              </a:rPr>
              <a:t> column to whole number format to support grouping and aggregation.</a:t>
            </a:r>
          </a:p>
          <a:p>
            <a:pPr>
              <a:buFont typeface="Wingdings" panose="05000000000000000000" pitchFamily="2" charset="2"/>
              <a:buChar char="Ø"/>
            </a:pPr>
            <a:r>
              <a:rPr lang="en-US" dirty="0">
                <a:latin typeface="Mongolian Baiti" panose="03000500000000000000" pitchFamily="66" charset="0"/>
                <a:cs typeface="Mongolian Baiti" panose="03000500000000000000" pitchFamily="66" charset="0"/>
              </a:rPr>
              <a:t>Verified </a:t>
            </a:r>
            <a:r>
              <a:rPr lang="en-US" b="1" dirty="0">
                <a:latin typeface="Mongolian Baiti" panose="03000500000000000000" pitchFamily="66" charset="0"/>
                <a:cs typeface="Mongolian Baiti" panose="03000500000000000000" pitchFamily="66" charset="0"/>
              </a:rPr>
              <a:t>Monthly Charges</a:t>
            </a:r>
            <a:r>
              <a:rPr lang="en-US" dirty="0">
                <a:latin typeface="Mongolian Baiti" panose="03000500000000000000" pitchFamily="66" charset="0"/>
                <a:cs typeface="Mongolian Baiti" panose="03000500000000000000" pitchFamily="66" charset="0"/>
              </a:rPr>
              <a:t> and </a:t>
            </a:r>
            <a:r>
              <a:rPr lang="en-US" b="1" dirty="0">
                <a:latin typeface="Mongolian Baiti" panose="03000500000000000000" pitchFamily="66" charset="0"/>
                <a:cs typeface="Mongolian Baiti" panose="03000500000000000000" pitchFamily="66" charset="0"/>
              </a:rPr>
              <a:t>Total Charges</a:t>
            </a:r>
            <a:r>
              <a:rPr lang="en-US" dirty="0">
                <a:latin typeface="Mongolian Baiti" panose="03000500000000000000" pitchFamily="66" charset="0"/>
                <a:cs typeface="Mongolian Baiti" panose="03000500000000000000" pitchFamily="66" charset="0"/>
              </a:rPr>
              <a:t> contain only valid numeric values after type conversion.</a:t>
            </a:r>
          </a:p>
          <a:p>
            <a:pPr>
              <a:buFont typeface="Wingdings" panose="05000000000000000000" pitchFamily="2" charset="2"/>
              <a:buChar char="Ø"/>
            </a:pPr>
            <a:r>
              <a:rPr lang="en-US" dirty="0">
                <a:latin typeface="Mongolian Baiti" panose="03000500000000000000" pitchFamily="66" charset="0"/>
                <a:cs typeface="Mongolian Baiti" panose="03000500000000000000" pitchFamily="66" charset="0"/>
              </a:rPr>
              <a:t>Ensured </a:t>
            </a:r>
            <a:r>
              <a:rPr lang="en-US" b="1" dirty="0">
                <a:latin typeface="Mongolian Baiti" panose="03000500000000000000" pitchFamily="66" charset="0"/>
                <a:cs typeface="Mongolian Baiti" panose="03000500000000000000" pitchFamily="66" charset="0"/>
              </a:rPr>
              <a:t>one row per customer</a:t>
            </a:r>
            <a:r>
              <a:rPr lang="en-US" dirty="0">
                <a:latin typeface="Mongolian Baiti" panose="03000500000000000000" pitchFamily="66" charset="0"/>
                <a:cs typeface="Mongolian Baiti" panose="03000500000000000000" pitchFamily="66" charset="0"/>
              </a:rPr>
              <a:t> by validating customer-level granularity (no duplicate customer entries).</a:t>
            </a:r>
          </a:p>
          <a:p>
            <a:pPr>
              <a:buFont typeface="Wingdings" panose="05000000000000000000" pitchFamily="2" charset="2"/>
              <a:buChar char="Ø"/>
            </a:pPr>
            <a:r>
              <a:rPr lang="en-US" dirty="0"/>
              <a:t>Validated and standardized contract categories  to eliminate inconsistencies and ensure accurate comparison of churn behavior across contract types.</a:t>
            </a:r>
          </a:p>
          <a:p>
            <a:pPr lvl="1"/>
            <a:r>
              <a:rPr lang="en-US" sz="2000" dirty="0">
                <a:latin typeface="Mongolian Baiti" panose="03000500000000000000" pitchFamily="66" charset="0"/>
                <a:cs typeface="Mongolian Baiti" panose="03000500000000000000" pitchFamily="66" charset="0"/>
              </a:rPr>
              <a:t>Month-to-month</a:t>
            </a:r>
          </a:p>
          <a:p>
            <a:pPr lvl="1"/>
            <a:r>
              <a:rPr lang="en-US" sz="2000" dirty="0">
                <a:latin typeface="Mongolian Baiti" panose="03000500000000000000" pitchFamily="66" charset="0"/>
                <a:cs typeface="Mongolian Baiti" panose="03000500000000000000" pitchFamily="66" charset="0"/>
              </a:rPr>
              <a:t>One year</a:t>
            </a:r>
          </a:p>
          <a:p>
            <a:pPr lvl="1"/>
            <a:r>
              <a:rPr lang="en-US" sz="2000" dirty="0">
                <a:latin typeface="Mongolian Baiti" panose="03000500000000000000" pitchFamily="66" charset="0"/>
                <a:cs typeface="Mongolian Baiti" panose="03000500000000000000" pitchFamily="66" charset="0"/>
              </a:rPr>
              <a:t>Two year</a:t>
            </a:r>
          </a:p>
          <a:p>
            <a:r>
              <a:rPr lang="en-US" dirty="0">
                <a:latin typeface="Mongolian Baiti" panose="03000500000000000000" pitchFamily="66" charset="0"/>
                <a:cs typeface="Mongolian Baiti" panose="03000500000000000000" pitchFamily="66" charset="0"/>
              </a:rPr>
              <a:t>Validated </a:t>
            </a:r>
            <a:r>
              <a:rPr lang="en-US" b="1" dirty="0">
                <a:latin typeface="Mongolian Baiti" panose="03000500000000000000" pitchFamily="66" charset="0"/>
                <a:cs typeface="Mongolian Baiti" panose="03000500000000000000" pitchFamily="66" charset="0"/>
              </a:rPr>
              <a:t>Payment Method</a:t>
            </a:r>
            <a:r>
              <a:rPr lang="en-US" dirty="0">
                <a:latin typeface="Mongolian Baiti" panose="03000500000000000000" pitchFamily="66" charset="0"/>
                <a:cs typeface="Mongolian Baiti" panose="03000500000000000000" pitchFamily="66" charset="0"/>
              </a:rPr>
              <a:t> categories to ensure no spelling or case mismatches affecting visuals.</a:t>
            </a:r>
          </a:p>
          <a:p>
            <a:r>
              <a:rPr lang="en-US" dirty="0">
                <a:latin typeface="Mongolian Baiti" panose="03000500000000000000" pitchFamily="66" charset="0"/>
                <a:cs typeface="Mongolian Baiti" panose="03000500000000000000" pitchFamily="66" charset="0"/>
              </a:rPr>
              <a:t>Reviewed churn column to confirm it contains only </a:t>
            </a:r>
            <a:r>
              <a:rPr lang="en-US" b="1" dirty="0">
                <a:latin typeface="Mongolian Baiti" panose="03000500000000000000" pitchFamily="66" charset="0"/>
                <a:cs typeface="Mongolian Baiti" panose="03000500000000000000" pitchFamily="66" charset="0"/>
              </a:rPr>
              <a:t>Yes / No</a:t>
            </a:r>
            <a:r>
              <a:rPr lang="en-US" dirty="0">
                <a:latin typeface="Mongolian Baiti" panose="03000500000000000000" pitchFamily="66" charset="0"/>
                <a:cs typeface="Mongolian Baiti" panose="03000500000000000000" pitchFamily="66" charset="0"/>
              </a:rPr>
              <a:t> values with no nulls.</a:t>
            </a:r>
          </a:p>
          <a:p>
            <a:pPr marL="285750" indent="-285750">
              <a:lnSpc>
                <a:spcPct val="150000"/>
              </a:lnSpc>
              <a:buSzPct val="120000"/>
              <a:buFont typeface="Wingdings" panose="05000000000000000000" pitchFamily="2" charset="2"/>
              <a:buChar char="Ø"/>
            </a:pPr>
            <a:endParaRPr lang="en-IN" sz="1800" dirty="0"/>
          </a:p>
        </p:txBody>
      </p:sp>
    </p:spTree>
    <p:extLst>
      <p:ext uri="{BB962C8B-B14F-4D97-AF65-F5344CB8AC3E}">
        <p14:creationId xmlns:p14="http://schemas.microsoft.com/office/powerpoint/2010/main" val="1334149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9A063F8-0E52-C282-FAA6-6CE23CF4FCFC}"/>
              </a:ext>
            </a:extLst>
          </p:cNvPr>
          <p:cNvSpPr>
            <a:spLocks noGrp="1"/>
          </p:cNvSpPr>
          <p:nvPr>
            <p:ph idx="1"/>
          </p:nvPr>
        </p:nvSpPr>
        <p:spPr>
          <a:xfrm>
            <a:off x="633919" y="165221"/>
            <a:ext cx="10515600" cy="5895111"/>
          </a:xfrm>
        </p:spPr>
        <p:txBody>
          <a:bodyPr>
            <a:noAutofit/>
          </a:bodyPr>
          <a:lstStyle/>
          <a:p>
            <a:pPr marL="0" indent="0">
              <a:lnSpc>
                <a:spcPct val="150000"/>
              </a:lnSpc>
              <a:buSzPct val="120000"/>
              <a:buNone/>
            </a:pPr>
            <a:r>
              <a:rPr lang="en-IN" b="1" dirty="0">
                <a:latin typeface="Mongolian Baiti" panose="03000500000000000000" pitchFamily="66" charset="0"/>
                <a:cs typeface="Mongolian Baiti" panose="03000500000000000000" pitchFamily="66" charset="0"/>
              </a:rPr>
              <a:t>Tenure-Based Customer Classification</a:t>
            </a:r>
          </a:p>
          <a:p>
            <a:pPr marL="0" indent="0">
              <a:lnSpc>
                <a:spcPct val="150000"/>
              </a:lnSpc>
              <a:buSzPct val="120000"/>
              <a:buNone/>
            </a:pPr>
            <a:r>
              <a:rPr lang="en-US" sz="1800" dirty="0">
                <a:latin typeface="Times New Roman" panose="02020603050405020304" pitchFamily="18" charset="0"/>
                <a:cs typeface="Times New Roman" panose="02020603050405020304" pitchFamily="18" charset="0"/>
              </a:rPr>
              <a:t>Original Tenure column had values like: </a:t>
            </a:r>
            <a:r>
              <a:rPr lang="en-US" sz="1800" b="1" dirty="0">
                <a:latin typeface="Times New Roman" panose="02020603050405020304" pitchFamily="18" charset="0"/>
                <a:cs typeface="Times New Roman" panose="02020603050405020304" pitchFamily="18" charset="0"/>
              </a:rPr>
              <a:t>1, 5, 13, 45 months</a:t>
            </a:r>
            <a:r>
              <a:rPr lang="en-US" sz="1800" dirty="0">
                <a:latin typeface="Times New Roman" panose="02020603050405020304" pitchFamily="18" charset="0"/>
                <a:cs typeface="Times New Roman" panose="02020603050405020304" pitchFamily="18" charset="0"/>
              </a:rPr>
              <a:t>, which were hard to analyze as continuous numbers.</a:t>
            </a:r>
          </a:p>
          <a:p>
            <a:pPr>
              <a:lnSpc>
                <a:spcPct val="150000"/>
              </a:lnSpc>
              <a:buSzPct val="120000"/>
              <a:buFont typeface="Wingdings" panose="05000000000000000000" pitchFamily="2" charset="2"/>
              <a:buChar char="Ø"/>
            </a:pPr>
            <a:r>
              <a:rPr lang="en-US" sz="1800" dirty="0">
                <a:latin typeface="Mongolian Baiti" panose="03000500000000000000" pitchFamily="66" charset="0"/>
                <a:cs typeface="Mongolian Baiti" panose="03000500000000000000" pitchFamily="66" charset="0"/>
              </a:rPr>
              <a:t>Customers were segmented into lifecycle-based Tenure buckets by creating a derived tenure classification column, enabling comparative churn analysis across different customer maturity stages.</a:t>
            </a:r>
          </a:p>
          <a:p>
            <a:pPr lvl="1">
              <a:lnSpc>
                <a:spcPct val="150000"/>
              </a:lnSpc>
              <a:buSzPct val="120000"/>
            </a:pPr>
            <a:r>
              <a:rPr lang="en-US" sz="1700" b="1" dirty="0">
                <a:latin typeface="Times New Roman" panose="02020603050405020304" pitchFamily="18" charset="0"/>
                <a:cs typeface="Times New Roman" panose="02020603050405020304" pitchFamily="18" charset="0"/>
              </a:rPr>
              <a:t>0–12 months</a:t>
            </a:r>
            <a:endParaRPr lang="en-US" sz="1700" dirty="0">
              <a:latin typeface="Times New Roman" panose="02020603050405020304" pitchFamily="18" charset="0"/>
              <a:cs typeface="Times New Roman" panose="02020603050405020304" pitchFamily="18" charset="0"/>
            </a:endParaRPr>
          </a:p>
          <a:p>
            <a:pPr lvl="1">
              <a:lnSpc>
                <a:spcPct val="150000"/>
              </a:lnSpc>
              <a:buSzPct val="120000"/>
            </a:pPr>
            <a:r>
              <a:rPr lang="en-US" sz="1700" b="1" dirty="0">
                <a:latin typeface="Times New Roman" panose="02020603050405020304" pitchFamily="18" charset="0"/>
                <a:cs typeface="Times New Roman" panose="02020603050405020304" pitchFamily="18" charset="0"/>
              </a:rPr>
              <a:t>12–24 months </a:t>
            </a:r>
          </a:p>
          <a:p>
            <a:pPr lvl="1">
              <a:lnSpc>
                <a:spcPct val="150000"/>
              </a:lnSpc>
              <a:buSzPct val="120000"/>
            </a:pPr>
            <a:r>
              <a:rPr lang="en-US" sz="1700" b="1" dirty="0">
                <a:latin typeface="Times New Roman" panose="02020603050405020304" pitchFamily="18" charset="0"/>
                <a:cs typeface="Times New Roman" panose="02020603050405020304" pitchFamily="18" charset="0"/>
              </a:rPr>
              <a:t>24–48 months</a:t>
            </a:r>
            <a:endParaRPr lang="en-US" sz="1700" dirty="0">
              <a:latin typeface="Times New Roman" panose="02020603050405020304" pitchFamily="18" charset="0"/>
              <a:cs typeface="Times New Roman" panose="02020603050405020304" pitchFamily="18" charset="0"/>
            </a:endParaRPr>
          </a:p>
          <a:p>
            <a:pPr lvl="1">
              <a:lnSpc>
                <a:spcPct val="150000"/>
              </a:lnSpc>
              <a:buSzPct val="120000"/>
            </a:pPr>
            <a:r>
              <a:rPr lang="en-US" sz="1700" b="1" dirty="0">
                <a:latin typeface="Times New Roman" panose="02020603050405020304" pitchFamily="18" charset="0"/>
                <a:cs typeface="Times New Roman" panose="02020603050405020304" pitchFamily="18" charset="0"/>
              </a:rPr>
              <a:t>48–72 months</a:t>
            </a:r>
            <a:endParaRPr lang="en-US" sz="1700" dirty="0">
              <a:latin typeface="Times New Roman" panose="02020603050405020304" pitchFamily="18" charset="0"/>
              <a:cs typeface="Times New Roman" panose="02020603050405020304" pitchFamily="18" charset="0"/>
            </a:endParaRPr>
          </a:p>
          <a:p>
            <a:pPr>
              <a:lnSpc>
                <a:spcPct val="150000"/>
              </a:lnSpc>
              <a:buSzPct val="12000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These groups help identify which customer segments have the </a:t>
            </a:r>
            <a:r>
              <a:rPr lang="en-US" sz="1800" b="1" dirty="0">
                <a:latin typeface="Times New Roman" panose="02020603050405020304" pitchFamily="18" charset="0"/>
                <a:cs typeface="Times New Roman" panose="02020603050405020304" pitchFamily="18" charset="0"/>
              </a:rPr>
              <a:t>highest churn rates</a:t>
            </a:r>
            <a:r>
              <a:rPr lang="en-US" sz="1800" dirty="0">
                <a:latin typeface="Times New Roman" panose="02020603050405020304" pitchFamily="18" charset="0"/>
                <a:cs typeface="Times New Roman" panose="02020603050405020304" pitchFamily="18" charset="0"/>
              </a:rPr>
              <a:t>.</a:t>
            </a:r>
          </a:p>
          <a:p>
            <a:pPr>
              <a:lnSpc>
                <a:spcPct val="150000"/>
              </a:lnSpc>
              <a:buSzPct val="120000"/>
              <a:buFont typeface="Wingdings" panose="05000000000000000000" pitchFamily="2" charset="2"/>
              <a:buChar char="Ø"/>
            </a:pPr>
            <a:r>
              <a:rPr lang="en-US" sz="1800" dirty="0">
                <a:latin typeface="Mongolian Baiti" panose="03000500000000000000" pitchFamily="66" charset="0"/>
                <a:cs typeface="Mongolian Baiti" panose="03000500000000000000" pitchFamily="66" charset="0"/>
              </a:rPr>
              <a:t>Final dataset was validated for </a:t>
            </a:r>
            <a:r>
              <a:rPr lang="en-US" sz="1800" b="1" dirty="0">
                <a:latin typeface="Mongolian Baiti" panose="03000500000000000000" pitchFamily="66" charset="0"/>
                <a:cs typeface="Mongolian Baiti" panose="03000500000000000000" pitchFamily="66" charset="0"/>
              </a:rPr>
              <a:t>filter, slicer, and DAX compatibility</a:t>
            </a:r>
            <a:r>
              <a:rPr lang="en-US" sz="1800" dirty="0">
                <a:latin typeface="Mongolian Baiti" panose="03000500000000000000" pitchFamily="66" charset="0"/>
                <a:cs typeface="Mongolian Baiti" panose="03000500000000000000" pitchFamily="66" charset="0"/>
              </a:rPr>
              <a:t> before report creation.</a:t>
            </a:r>
          </a:p>
          <a:p>
            <a:pPr>
              <a:lnSpc>
                <a:spcPct val="150000"/>
              </a:lnSpc>
              <a:buSzPct val="120000"/>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endParaRPr lang="en-IN" sz="1800" dirty="0"/>
          </a:p>
        </p:txBody>
      </p:sp>
    </p:spTree>
    <p:extLst>
      <p:ext uri="{BB962C8B-B14F-4D97-AF65-F5344CB8AC3E}">
        <p14:creationId xmlns:p14="http://schemas.microsoft.com/office/powerpoint/2010/main" val="4017136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FD82010-4544-F2DC-CB84-796DA2DB6CB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06608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0A0806-57D1-975A-1403-74C2EF050F9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74756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103B80-F331-1083-96BF-B692C335183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54344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AAFD5-358F-D359-F0B5-EDD30658F6B8}"/>
              </a:ext>
            </a:extLst>
          </p:cNvPr>
          <p:cNvSpPr>
            <a:spLocks noGrp="1"/>
          </p:cNvSpPr>
          <p:nvPr>
            <p:ph type="title"/>
          </p:nvPr>
        </p:nvSpPr>
        <p:spPr>
          <a:xfrm>
            <a:off x="317089" y="147484"/>
            <a:ext cx="10354117" cy="765088"/>
          </a:xfrm>
        </p:spPr>
        <p:txBody>
          <a:bodyPr>
            <a:normAutofit/>
          </a:bodyPr>
          <a:lstStyle/>
          <a:p>
            <a:r>
              <a:rPr lang="en-IN" sz="3600" b="1" dirty="0">
                <a:solidFill>
                  <a:srgbClr val="FF0000"/>
                </a:solidFill>
                <a:latin typeface="Times New Roman" panose="02020603050405020304" pitchFamily="18" charset="0"/>
                <a:cs typeface="Times New Roman" panose="02020603050405020304" pitchFamily="18" charset="0"/>
              </a:rPr>
              <a:t>Key Insights &amp; Findings :</a:t>
            </a:r>
            <a:endParaRPr lang="en-IN" sz="3600" b="1" dirty="0">
              <a:solidFill>
                <a:srgbClr val="FF0000"/>
              </a:solidFill>
            </a:endParaRPr>
          </a:p>
        </p:txBody>
      </p:sp>
      <p:sp>
        <p:nvSpPr>
          <p:cNvPr id="4" name="Rectangle 1">
            <a:extLst>
              <a:ext uri="{FF2B5EF4-FFF2-40B4-BE49-F238E27FC236}">
                <a16:creationId xmlns:a16="http://schemas.microsoft.com/office/drawing/2014/main" id="{D5749D92-9FB0-74D4-FDAB-1A26078106C9}"/>
              </a:ext>
            </a:extLst>
          </p:cNvPr>
          <p:cNvSpPr>
            <a:spLocks noGrp="1" noChangeArrowheads="1"/>
          </p:cNvSpPr>
          <p:nvPr>
            <p:ph idx="1"/>
          </p:nvPr>
        </p:nvSpPr>
        <p:spPr bwMode="auto">
          <a:xfrm>
            <a:off x="439009" y="806768"/>
            <a:ext cx="10692581" cy="6321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buClrTx/>
              <a:buSzTx/>
              <a:buFont typeface="Wingdings" panose="05000000000000000000" pitchFamily="2" charset="2"/>
              <a:buChar char="q"/>
            </a:pPr>
            <a:r>
              <a:rPr lang="en-US" dirty="0">
                <a:latin typeface="Mongolian Baiti" panose="03000500000000000000" pitchFamily="66" charset="0"/>
                <a:cs typeface="Mongolian Baiti" panose="03000500000000000000" pitchFamily="66" charset="0"/>
              </a:rPr>
              <a:t>High churn is concentrated among month-to-month contract customers, indicating lack of long-term commitment as a major churn driver.</a:t>
            </a:r>
          </a:p>
          <a:p>
            <a:pPr lvl="0" eaLnBrk="0" fontAlgn="base" hangingPunct="0">
              <a:lnSpc>
                <a:spcPct val="150000"/>
              </a:lnSpc>
              <a:spcBef>
                <a:spcPct val="0"/>
              </a:spcBef>
              <a:spcAft>
                <a:spcPct val="0"/>
              </a:spcAft>
              <a:buClrTx/>
              <a:buSzTx/>
              <a:buFont typeface="Wingdings" panose="05000000000000000000" pitchFamily="2" charset="2"/>
              <a:buChar char="q"/>
            </a:pPr>
            <a:r>
              <a:rPr lang="en-US" dirty="0">
                <a:latin typeface="Mongolian Baiti" panose="03000500000000000000" pitchFamily="66" charset="0"/>
                <a:cs typeface="Mongolian Baiti" panose="03000500000000000000" pitchFamily="66" charset="0"/>
              </a:rPr>
              <a:t>Customers with higher monthly charges show a significantly higher churn rate, especially those using Fiber Optic internet services.</a:t>
            </a:r>
          </a:p>
          <a:p>
            <a:pPr lvl="0" eaLnBrk="0" fontAlgn="base" hangingPunct="0">
              <a:lnSpc>
                <a:spcPct val="150000"/>
              </a:lnSpc>
              <a:spcBef>
                <a:spcPct val="0"/>
              </a:spcBef>
              <a:spcAft>
                <a:spcPct val="0"/>
              </a:spcAft>
              <a:buClrTx/>
              <a:buSzTx/>
              <a:buFont typeface="Wingdings" panose="05000000000000000000" pitchFamily="2" charset="2"/>
              <a:buChar char="q"/>
            </a:pPr>
            <a:r>
              <a:rPr lang="en-US" dirty="0">
                <a:latin typeface="Mongolian Baiti" panose="03000500000000000000" pitchFamily="66" charset="0"/>
                <a:cs typeface="Mongolian Baiti" panose="03000500000000000000" pitchFamily="66" charset="0"/>
              </a:rPr>
              <a:t>Short-tenure customers are the most likely to churn, highlighting the importance of early-stage customer engagement and onboarding.</a:t>
            </a:r>
          </a:p>
          <a:p>
            <a:pPr lvl="0" eaLnBrk="0" fontAlgn="base" hangingPunct="0">
              <a:lnSpc>
                <a:spcPct val="150000"/>
              </a:lnSpc>
              <a:spcBef>
                <a:spcPct val="0"/>
              </a:spcBef>
              <a:spcAft>
                <a:spcPct val="0"/>
              </a:spcAft>
              <a:buClrTx/>
              <a:buSzTx/>
              <a:buFont typeface="Wingdings" panose="05000000000000000000" pitchFamily="2" charset="2"/>
              <a:buChar char="q"/>
            </a:pPr>
            <a:r>
              <a:rPr lang="en-US" dirty="0">
                <a:latin typeface="Mongolian Baiti" panose="03000500000000000000" pitchFamily="66" charset="0"/>
                <a:cs typeface="Mongolian Baiti" panose="03000500000000000000" pitchFamily="66" charset="0"/>
              </a:rPr>
              <a:t>Lack of add-on services (Online Security, Tech Support, Backup) is strongly associated with higher churn, suggesting value-added services improve retention.</a:t>
            </a:r>
          </a:p>
          <a:p>
            <a:pPr lvl="0" eaLnBrk="0" fontAlgn="base" hangingPunct="0">
              <a:lnSpc>
                <a:spcPct val="150000"/>
              </a:lnSpc>
              <a:spcBef>
                <a:spcPct val="0"/>
              </a:spcBef>
              <a:spcAft>
                <a:spcPct val="0"/>
              </a:spcAft>
              <a:buClrTx/>
              <a:buSzTx/>
              <a:buFont typeface="Wingdings" panose="05000000000000000000" pitchFamily="2" charset="2"/>
              <a:buChar char="q"/>
            </a:pPr>
            <a:r>
              <a:rPr lang="en-US" dirty="0">
                <a:latin typeface="Mongolian Baiti" panose="03000500000000000000" pitchFamily="66" charset="0"/>
                <a:cs typeface="Mongolian Baiti" panose="03000500000000000000" pitchFamily="66" charset="0"/>
              </a:rPr>
              <a:t>Paperless billing and certain payment methods correlate with higher churn, indicating billing preferences can act as churn risk indicators.</a:t>
            </a:r>
          </a:p>
          <a:p>
            <a:pPr marL="285750" lvl="0" indent="-285750" eaLnBrk="0" fontAlgn="base" hangingPunct="0">
              <a:lnSpc>
                <a:spcPct val="150000"/>
              </a:lnSpc>
              <a:spcBef>
                <a:spcPct val="0"/>
              </a:spcBef>
              <a:spcAft>
                <a:spcPct val="0"/>
              </a:spcAft>
              <a:buClrTx/>
              <a:buSzTx/>
              <a:buFont typeface="Wingdings" panose="05000000000000000000" pitchFamily="2" charset="2"/>
              <a:buChar char="Ø"/>
            </a:pPr>
            <a:endParaRPr lang="en-US" sz="1800" dirty="0"/>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endParaRPr lang="en-US" altLang="en-US" sz="1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2870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930ED-B478-52CC-31ED-5300E31141FB}"/>
              </a:ext>
            </a:extLst>
          </p:cNvPr>
          <p:cNvSpPr>
            <a:spLocks noGrp="1"/>
          </p:cNvSpPr>
          <p:nvPr>
            <p:ph type="title"/>
          </p:nvPr>
        </p:nvSpPr>
        <p:spPr>
          <a:xfrm>
            <a:off x="245805" y="275303"/>
            <a:ext cx="10400071" cy="619432"/>
          </a:xfrm>
        </p:spPr>
        <p:txBody>
          <a:bodyPr>
            <a:normAutofit/>
          </a:bodyPr>
          <a:lstStyle/>
          <a:p>
            <a:r>
              <a:rPr lang="en-IN" sz="3600" b="1" dirty="0">
                <a:solidFill>
                  <a:srgbClr val="FF0000"/>
                </a:solidFill>
                <a:latin typeface="Times New Roman" panose="02020603050405020304" pitchFamily="18" charset="0"/>
                <a:cs typeface="Times New Roman" panose="02020603050405020304" pitchFamily="18" charset="0"/>
              </a:rPr>
              <a:t>Applications &amp; Recommendations </a:t>
            </a:r>
            <a:endParaRPr lang="en-IN" sz="3600" b="1" dirty="0">
              <a:solidFill>
                <a:srgbClr val="FF0000"/>
              </a:solidFill>
            </a:endParaRPr>
          </a:p>
        </p:txBody>
      </p:sp>
      <p:sp>
        <p:nvSpPr>
          <p:cNvPr id="3" name="Text Placeholder 2">
            <a:extLst>
              <a:ext uri="{FF2B5EF4-FFF2-40B4-BE49-F238E27FC236}">
                <a16:creationId xmlns:a16="http://schemas.microsoft.com/office/drawing/2014/main" id="{37C0EDC2-70FF-CB4D-3BE1-29CF9CEDF4F0}"/>
              </a:ext>
            </a:extLst>
          </p:cNvPr>
          <p:cNvSpPr>
            <a:spLocks noGrp="1"/>
          </p:cNvSpPr>
          <p:nvPr>
            <p:ph idx="1"/>
          </p:nvPr>
        </p:nvSpPr>
        <p:spPr>
          <a:xfrm>
            <a:off x="481780" y="707923"/>
            <a:ext cx="10872019" cy="4798142"/>
          </a:xfrm>
        </p:spPr>
        <p:txBody>
          <a:bodyPr>
            <a:noAutofit/>
          </a:bodyPr>
          <a:lstStyle/>
          <a:p>
            <a:pPr marL="0" indent="0">
              <a:buNone/>
            </a:pPr>
            <a:endParaRPr lang="en-US" sz="1800" dirty="0"/>
          </a:p>
          <a:p>
            <a:pPr marL="0" indent="0">
              <a:buNone/>
            </a:pPr>
            <a:r>
              <a:rPr lang="en-US" sz="2300" b="1" dirty="0">
                <a:latin typeface="Mongolian Baiti" panose="03000500000000000000" pitchFamily="66" charset="0"/>
                <a:cs typeface="Mongolian Baiti" panose="03000500000000000000" pitchFamily="66" charset="0"/>
              </a:rPr>
              <a:t>Applications:</a:t>
            </a:r>
            <a:endParaRPr lang="en-US" sz="2300" dirty="0">
              <a:latin typeface="Mongolian Baiti" panose="03000500000000000000" pitchFamily="66" charset="0"/>
              <a:cs typeface="Mongolian Baiti" panose="03000500000000000000" pitchFamily="66" charset="0"/>
            </a:endParaRPr>
          </a:p>
          <a:p>
            <a:r>
              <a:rPr lang="en-US" dirty="0">
                <a:latin typeface="Mongolian Baiti" panose="03000500000000000000" pitchFamily="66" charset="0"/>
                <a:cs typeface="Mongolian Baiti" panose="03000500000000000000" pitchFamily="66" charset="0"/>
              </a:rPr>
              <a:t>Identify customers who are likely to leave at an early stage and take timely retention actions.</a:t>
            </a:r>
          </a:p>
          <a:p>
            <a:r>
              <a:rPr lang="en-US" dirty="0">
                <a:latin typeface="Mongolian Baiti" panose="03000500000000000000" pitchFamily="66" charset="0"/>
                <a:cs typeface="Mongolian Baiti" panose="03000500000000000000" pitchFamily="66" charset="0"/>
              </a:rPr>
              <a:t>Design targeted offers and campaigns based on customer usage patterns and preferences.</a:t>
            </a:r>
          </a:p>
          <a:p>
            <a:r>
              <a:rPr lang="en-US" dirty="0">
                <a:latin typeface="Mongolian Baiti" panose="03000500000000000000" pitchFamily="66" charset="0"/>
                <a:cs typeface="Mongolian Baiti" panose="03000500000000000000" pitchFamily="66" charset="0"/>
              </a:rPr>
              <a:t>Minimize revenue loss by prioritizing high-risk and high-value customers.</a:t>
            </a:r>
          </a:p>
          <a:p>
            <a:pPr marL="0" indent="0">
              <a:buNone/>
            </a:pPr>
            <a:r>
              <a:rPr lang="en-US" sz="2300" b="1" dirty="0">
                <a:latin typeface="Mongolian Baiti" panose="03000500000000000000" pitchFamily="66" charset="0"/>
                <a:cs typeface="Mongolian Baiti" panose="03000500000000000000" pitchFamily="66" charset="0"/>
              </a:rPr>
              <a:t>Recommendations:</a:t>
            </a:r>
            <a:endParaRPr lang="en-US" sz="2300" dirty="0">
              <a:latin typeface="Mongolian Baiti" panose="03000500000000000000" pitchFamily="66" charset="0"/>
              <a:cs typeface="Mongolian Baiti" panose="03000500000000000000" pitchFamily="66" charset="0"/>
            </a:endParaRPr>
          </a:p>
          <a:p>
            <a:r>
              <a:rPr lang="en-US" dirty="0">
                <a:latin typeface="Mongolian Baiti" panose="03000500000000000000" pitchFamily="66" charset="0"/>
                <a:cs typeface="Mongolian Baiti" panose="03000500000000000000" pitchFamily="66" charset="0"/>
              </a:rPr>
              <a:t>Encourage customers to switch to long-term plans by offering discounts or incentives.</a:t>
            </a:r>
          </a:p>
          <a:p>
            <a:r>
              <a:rPr lang="en-US" dirty="0">
                <a:latin typeface="Mongolian Baiti" panose="03000500000000000000" pitchFamily="66" charset="0"/>
                <a:cs typeface="Mongolian Baiti" panose="03000500000000000000" pitchFamily="66" charset="0"/>
              </a:rPr>
              <a:t>Improve onboarding, support, and guidance for new customers to enhance satisfaction.</a:t>
            </a:r>
          </a:p>
          <a:p>
            <a:r>
              <a:rPr lang="en-US" dirty="0">
                <a:latin typeface="Mongolian Baiti" panose="03000500000000000000" pitchFamily="66" charset="0"/>
                <a:cs typeface="Mongolian Baiti" panose="03000500000000000000" pitchFamily="66" charset="0"/>
              </a:rPr>
              <a:t>Provide value-added services such as security, backup, or support to strengthen customer loyalty.</a:t>
            </a:r>
          </a:p>
          <a:p>
            <a:pPr marL="114300" indent="0">
              <a:lnSpc>
                <a:spcPct val="150000"/>
              </a:lnSpc>
              <a:buNone/>
            </a:pPr>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348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EB93-157A-38BA-08BE-38771AADCEE9}"/>
              </a:ext>
            </a:extLst>
          </p:cNvPr>
          <p:cNvSpPr>
            <a:spLocks noGrp="1"/>
          </p:cNvSpPr>
          <p:nvPr>
            <p:ph type="title"/>
          </p:nvPr>
        </p:nvSpPr>
        <p:spPr>
          <a:xfrm>
            <a:off x="412955" y="223519"/>
            <a:ext cx="10203425" cy="721361"/>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Conclusion </a:t>
            </a: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03930360-A962-DCB3-2008-71B95056D3D0}"/>
              </a:ext>
            </a:extLst>
          </p:cNvPr>
          <p:cNvSpPr>
            <a:spLocks noGrp="1" noChangeArrowheads="1"/>
          </p:cNvSpPr>
          <p:nvPr>
            <p:ph idx="1"/>
          </p:nvPr>
        </p:nvSpPr>
        <p:spPr bwMode="auto">
          <a:xfrm>
            <a:off x="504463" y="1239488"/>
            <a:ext cx="10940285" cy="3845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dirty="0">
                <a:latin typeface="Mongolian Baiti" panose="03000500000000000000" pitchFamily="66" charset="0"/>
                <a:cs typeface="Mongolian Baiti" panose="03000500000000000000" pitchFamily="66" charset="0"/>
              </a:rPr>
              <a:t>This project successfully analyzed customer data to understand why customers leave and why they stay. By studying customer details, services used, contract types, and billing information, key patterns related to churn were identified. The analysis showed that customers with short tenure, month-to-month contracts, higher monthly charges, and fewer services are more likely to churn.</a:t>
            </a:r>
          </a:p>
          <a:p>
            <a:r>
              <a:rPr lang="en-US" sz="2200" dirty="0">
                <a:latin typeface="Mongolian Baiti" panose="03000500000000000000" pitchFamily="66" charset="0"/>
                <a:cs typeface="Mongolian Baiti" panose="03000500000000000000" pitchFamily="66" charset="0"/>
              </a:rPr>
              <a:t>Interactive Power BI dashboards made it easy to explore trends and identify high-risk customer groups. Overall, the project demonstrates how data-driven analysis can help businesses take early action, improve customer satisfaction, and reduce customer churn while protecting revenue.</a:t>
            </a:r>
          </a:p>
        </p:txBody>
      </p:sp>
    </p:spTree>
    <p:extLst>
      <p:ext uri="{BB962C8B-B14F-4D97-AF65-F5344CB8AC3E}">
        <p14:creationId xmlns:p14="http://schemas.microsoft.com/office/powerpoint/2010/main" val="2653961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3DFEA-AADF-2BCC-8105-3E8C720419C4}"/>
              </a:ext>
            </a:extLst>
          </p:cNvPr>
          <p:cNvSpPr>
            <a:spLocks noGrp="1"/>
          </p:cNvSpPr>
          <p:nvPr>
            <p:ph type="title"/>
          </p:nvPr>
        </p:nvSpPr>
        <p:spPr>
          <a:xfrm>
            <a:off x="4129548" y="2576052"/>
            <a:ext cx="4208207" cy="1632154"/>
          </a:xfrm>
        </p:spPr>
        <p:txBody>
          <a:bodyPr>
            <a:normAutofit/>
          </a:bodyPr>
          <a:lstStyle/>
          <a:p>
            <a:r>
              <a:rPr lang="en-IN" sz="9600" dirty="0">
                <a:latin typeface="Algerian" panose="04020705040A02060702" pitchFamily="82" charset="0"/>
              </a:rPr>
              <a:t> Q &amp; A</a:t>
            </a:r>
          </a:p>
        </p:txBody>
      </p:sp>
    </p:spTree>
    <p:extLst>
      <p:ext uri="{BB962C8B-B14F-4D97-AF65-F5344CB8AC3E}">
        <p14:creationId xmlns:p14="http://schemas.microsoft.com/office/powerpoint/2010/main" val="3737369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1285</TotalTime>
  <Words>1040</Words>
  <Application>Microsoft Office PowerPoint</Application>
  <PresentationFormat>Widescreen</PresentationFormat>
  <Paragraphs>93</Paragraphs>
  <Slides>17</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Times New Roman</vt:lpstr>
      <vt:lpstr>Algerian</vt:lpstr>
      <vt:lpstr>Mongolian Baiti</vt:lpstr>
      <vt:lpstr>Courier New</vt:lpstr>
      <vt:lpstr>Calibri</vt:lpstr>
      <vt:lpstr>Gill Sans MT</vt:lpstr>
      <vt:lpstr>Arial</vt:lpstr>
      <vt:lpstr>Calisto MT</vt:lpstr>
      <vt:lpstr>Libre Baskerville</vt:lpstr>
      <vt:lpstr>Wingdings</vt:lpstr>
      <vt:lpstr>Gallery</vt:lpstr>
      <vt:lpstr>PowerPoint Presentation</vt:lpstr>
      <vt:lpstr>Agenda :</vt:lpstr>
      <vt:lpstr>BUSINESS PROBLEM STATEMENT</vt:lpstr>
      <vt:lpstr>PowerPoint Presentation</vt:lpstr>
      <vt:lpstr>PowerPoint Presentation</vt:lpstr>
      <vt:lpstr> Dataset Overview :</vt:lpstr>
      <vt:lpstr>Raw Dataset :</vt:lpstr>
      <vt:lpstr> Data Preparation :</vt:lpstr>
      <vt:lpstr>PowerPoint Presentation</vt:lpstr>
      <vt:lpstr>PowerPoint Presentation</vt:lpstr>
      <vt:lpstr>PowerPoint Presentation</vt:lpstr>
      <vt:lpstr>PowerPoint Presentation</vt:lpstr>
      <vt:lpstr>Key Insights &amp; Findings :</vt:lpstr>
      <vt:lpstr>Applications &amp; Recommendations </vt:lpstr>
      <vt:lpstr>Conclusion </vt:lpstr>
      <vt:lpstr> Q &amp; 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mahesh bollu</cp:lastModifiedBy>
  <cp:revision>11</cp:revision>
  <dcterms:created xsi:type="dcterms:W3CDTF">2021-02-16T05:19:01Z</dcterms:created>
  <dcterms:modified xsi:type="dcterms:W3CDTF">2026-01-03T04:31:37Z</dcterms:modified>
</cp:coreProperties>
</file>